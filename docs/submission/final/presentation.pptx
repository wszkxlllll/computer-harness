
<file path=[Content_Types].xml><?xml version="1.0" encoding="utf-8"?>
<Types xmlns="http://schemas.openxmlformats.org/package/2006/content-types"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5240000" cy="8572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资料来源：https://github.com/wszkxlllll/Computer-Harness/blob/main/docs/submission/technical-report.md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资料来源：https://github.com/wszkxlllll/Computer-Harness/blob/main/docs/submission/technical-report.md</a:t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资料来源：https://github.com/wszkxlllll/Computer-Harness/blob/main/docs/submission/technical-report.md</a:t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资料来源：https://github.com/wszkxlllll/Computer-Harness/blob/main/docs/submission/technical-report.md</a:t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资料来源：https://github.com/wszkxlllll/Computer-Harness/blob/main/docs/submission/technical-report.md</a:t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资料来源：https://github.com/wszkxlllll/Computer-Harness/blob/main/docs/submission/technical-report.md</a:t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资料来源：https://github.com/wszkxlllll/Computer-Harness/blob/main/docs/submission/technical-report.md</a:t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资料来源：https://github.com/wszkxlllll/Computer-Harness/blob/main/docs/submission/technical-report.md</a:t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资料来源：https://github.com/wszkxlllll/Computer-Harness/blob/main/docs/submission/technical-report.md</a:t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资料来源：https://47.108.197.221/demo/</a:t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资料来源：https://github.com/wszkxlllll/Computer-Harness/blob/main/docs/submission/supporting-evidence.md</a:t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资料来源：https://github.com/wszkxlllll/Computer-Harness/blob/main/docs/submission/supporting-evidence.md</a:t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资料来源：https://github.com/trycua/cua/pull/4500
https://github.com/trycua/cua/pull/5587
https://github.com/Tongyi-MAI/OpenGCUA/issues/6
https://hub.xerj.org/contributors/betterGuo
https://github.com/openclaw/openclaw/pull/126399
https://github.com/openclaw/openclaw/pull/127177</a:t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资料来源：https://github.com/wszkxlllll/Computer-Harness/blob/main/docs/submission/technical-report.md</a:t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资料来源：https://github.com/wszkxlllll/Computer-Harness/blob/main/docs/submission/technical-report.md</a:t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资料来源：https://github.com/wszkxlllll/Computer-Harness/blob/main/docs/submission/supporting-evidence.md</a:t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524000" y="3238500"/>
            <a:ext cx="12192000" cy="12382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2286000" y="4714875"/>
            <a:ext cx="10668000" cy="952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524000" y="3571875"/>
            <a:ext cx="12192000" cy="1428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13525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8096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slide" Target="slide5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2" Type="http://schemas.openxmlformats.org/officeDocument/2006/relationships/notesSlide" Target="../notesSlides/notesSlide2.xml"/><Relationship Id="rId21" Type="http://schemas.openxmlformats.org/officeDocument/2006/relationships/slideLayout" Target="../slideLayouts/slideLayout6.xml"/><Relationship Id="rId20" Type="http://schemas.openxmlformats.org/officeDocument/2006/relationships/tags" Target="../tags/tag16.xml"/><Relationship Id="rId2" Type="http://schemas.openxmlformats.org/officeDocument/2006/relationships/slide" Target="slide3.xml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slide" Target="slide13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slide" Target="slide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3.xml.rels><?xml version='1.0' encoding='UTF-8' standalone='yes'?>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8" Type="http://schemas.openxmlformats.org/officeDocument/2006/relationships/notesSlide" Target="../notesSlides/notesSlide7.xml"/><Relationship Id="rId17" Type="http://schemas.openxmlformats.org/officeDocument/2006/relationships/slideLayout" Target="../slideLayouts/slideLayout6.xml"/><Relationship Id="rId16" Type="http://schemas.openxmlformats.org/officeDocument/2006/relationships/tags" Target="../tags/tag31.xml"/><Relationship Id="rId15" Type="http://schemas.openxmlformats.org/officeDocument/2006/relationships/tags" Target="../tags/tag30.xml"/><Relationship Id="rId14" Type="http://schemas.openxmlformats.org/officeDocument/2006/relationships/tags" Target="../tags/tag29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1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7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11.xml.rels><?xml version='1.0' encoding='UTF-8' standalone='yes'?>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1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9" Type="http://schemas.openxmlformats.org/officeDocument/2006/relationships/hyperlink" Target="https://github.com/openclaw/openclaw/pull/127177" TargetMode="External"/><Relationship Id="rId8" Type="http://schemas.openxmlformats.org/officeDocument/2006/relationships/hyperlink" Target="https://github.com/openclaw/openclaw/pull/126399" TargetMode="External"/><Relationship Id="rId7" Type="http://schemas.openxmlformats.org/officeDocument/2006/relationships/hyperlink" Target="https://github.com/Tongyi-MAI/OpenGCUA/issues/5#issuecomment-6408027919" TargetMode="External"/><Relationship Id="rId6" Type="http://schemas.openxmlformats.org/officeDocument/2006/relationships/hyperlink" Target="https://github.com/Tongyi-MAI/OpenGCUA/issues/5" TargetMode="External"/><Relationship Id="rId5" Type="http://schemas.openxmlformats.org/officeDocument/2006/relationships/hyperlink" Target="https://github.com/trycua/cua/pull/5587" TargetMode="External"/><Relationship Id="rId4" Type="http://schemas.openxmlformats.org/officeDocument/2006/relationships/hyperlink" Target="https://github.com/trycua/cua/pull/4500" TargetMode="External"/><Relationship Id="rId3" Type="http://schemas.openxmlformats.org/officeDocument/2006/relationships/hyperlink" Target="https://github.com/wszkxlllll/Computer-Harness/blob/main/docs/submission/real-task-cases.md" TargetMode="External"/><Relationship Id="rId2" Type="http://schemas.openxmlformats.org/officeDocument/2006/relationships/hyperlink" Target="https://github.com/wszkxlllll/Computer-Harness" TargetMode="External"/><Relationship Id="rId11" Type="http://schemas.openxmlformats.org/officeDocument/2006/relationships/notesSlide" Target="../notesSlides/notesSlide16.xml"/><Relationship Id="rId10" Type="http://schemas.openxmlformats.org/officeDocument/2006/relationships/slideLayout" Target="../slideLayouts/slideLayout6.xml"/><Relationship Id="rId1" Type="http://schemas.openxmlformats.org/officeDocument/2006/relationships/slide" Target="slide2.xml"/><Relationship Id="rIdRefine17" Type="http://schemas.openxmlformats.org/officeDocument/2006/relationships/hyperlink" Target="https://github.com/Tongyi-MAI/OpenGCUA/issues/6" TargetMode="External"/><Relationship Id="rIdRefine61" Type="http://schemas.openxmlformats.org/officeDocument/2006/relationships/hyperlink" Target="https://hub.xerj.org/contributors/betterGuo" TargetMode="External"/><Relationship Id="rIdRefine10" Type="http://schemas.openxmlformats.org/officeDocument/2006/relationships/hyperlink" Target="https://github.com/wszkxlllll/Computer-Harness/blob/main/docs/submission/real-task-cases.md" TargetMode="External"/><Relationship Id="rIdRefine62" Type="http://schemas.openxmlformats.org/officeDocument/2006/relationships/hyperlink" Target="https://github.com/wszkxlllll/Computer-Harness/blob/main/docs/submission/supporting-evidence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AF4FC"/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2" name="cover-topline"/>
          <p:cNvSpPr>
            <a:spLocks noGrp="1"/>
          </p:cNvSpPr>
          <p:nvPr/>
        </p:nvSpPr>
        <p:spPr>
          <a:xfrm>
            <a:off x="0" y="0"/>
            <a:ext cx="15240000" cy="114300"/>
          </a:xfrm>
          <a:prstGeom prst="rect">
            <a:avLst/>
          </a:prstGeom>
          <a:solidFill>
            <a:srgbClr val="084C9B"/>
          </a:solidFill>
          <a:ln w="0">
            <a:noFill/>
          </a:ln>
        </p:spPr>
      </p:sp>
      <p:sp>
        <p:nvSpPr>
          <p:cNvPr id="2" name="competition"/>
          <p:cNvSpPr>
            <a:spLocks noGrp="1"/>
          </p:cNvSpPr>
          <p:nvPr/>
        </p:nvSpPr>
        <p:spPr>
          <a:xfrm>
            <a:off x="638175" y="447675"/>
            <a:ext cx="9525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2026 全球校园人工智能算法精英大赛</a:t>
            </a:r>
            <a:endParaRPr sz="1875" b="0">
              <a:solidFill>
                <a:srgbClr val="516278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3" name="track"/>
          <p:cNvSpPr>
            <a:spLocks noGrp="1"/>
          </p:cNvSpPr>
          <p:nvPr/>
        </p:nvSpPr>
        <p:spPr>
          <a:xfrm>
            <a:off x="12287250" y="447675"/>
            <a:ext cx="2286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9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r">
              <a:defRPr sz="19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r">
              <a:defRPr sz="19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r">
              <a:defRPr sz="19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r">
              <a:defRPr sz="19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r">
              <a:defRPr sz="19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r">
              <a:defRPr sz="19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r">
              <a:defRPr sz="19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r">
              <a:defRPr sz="19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r">
              <a:defRPr sz="19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r">
              <a:defRPr sz="19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9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AI+开源</a:t>
            </a:r>
            <a:endParaRPr sz="1950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4" name="cover-rule"/>
          <p:cNvSpPr>
            <a:spLocks noGrp="1"/>
          </p:cNvSpPr>
          <p:nvPr/>
        </p:nvSpPr>
        <p:spPr>
          <a:xfrm>
            <a:off x="628650" y="1009650"/>
            <a:ext cx="13973175" cy="19050"/>
          </a:xfrm>
          <a:prstGeom prst="rect">
            <a:avLst/>
          </a:prstGeom>
          <a:solidFill>
            <a:srgbClr val="BDD3E5"/>
          </a:solidFill>
          <a:ln w="0">
            <a:noFill/>
          </a:ln>
        </p:spPr>
      </p:sp>
      <p:sp>
        <p:nvSpPr>
          <p:cNvPr id="5" name="cover-name"/>
          <p:cNvSpPr>
            <a:spLocks noGrp="1"/>
          </p:cNvSpPr>
          <p:nvPr/>
        </p:nvSpPr>
        <p:spPr>
          <a:xfrm>
            <a:off x="600075" y="1476375"/>
            <a:ext cx="68580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8850" b="0">
                <a:solidFill>
                  <a:srgbClr val="073570"/>
                </a:solidFill>
                <a:latin typeface="STXinwei" panose="02010800040101010101" charset="-122"/>
                <a:ea typeface="STXinwei" panose="02010800040101010101" charset="-122"/>
                <a:cs typeface="STXinwei" panose="02010800040101010101" charset="-122"/>
              </a:defRPr>
            </a:defPPr>
            <a:lvl1pPr algn="l">
              <a:defRPr sz="8850" b="0">
                <a:solidFill>
                  <a:srgbClr val="073570"/>
                </a:solidFill>
                <a:latin typeface="STXinwei" panose="02010800040101010101" charset="-122"/>
                <a:ea typeface="STXinwei" panose="02010800040101010101" charset="-122"/>
                <a:cs typeface="STXinwei" panose="02010800040101010101" charset="-122"/>
              </a:defRPr>
            </a:lvl1pPr>
            <a:lvl2pPr algn="l">
              <a:defRPr sz="8850" b="0">
                <a:solidFill>
                  <a:srgbClr val="073570"/>
                </a:solidFill>
                <a:latin typeface="STXinwei" panose="02010800040101010101" charset="-122"/>
                <a:ea typeface="STXinwei" panose="02010800040101010101" charset="-122"/>
                <a:cs typeface="STXinwei" panose="02010800040101010101" charset="-122"/>
              </a:defRPr>
            </a:lvl2pPr>
            <a:lvl3pPr algn="l">
              <a:defRPr sz="8850" b="0">
                <a:solidFill>
                  <a:srgbClr val="073570"/>
                </a:solidFill>
                <a:latin typeface="STXinwei" panose="02010800040101010101" charset="-122"/>
                <a:ea typeface="STXinwei" panose="02010800040101010101" charset="-122"/>
                <a:cs typeface="STXinwei" panose="02010800040101010101" charset="-122"/>
              </a:defRPr>
            </a:lvl3pPr>
            <a:lvl4pPr algn="l">
              <a:defRPr sz="8850" b="0">
                <a:solidFill>
                  <a:srgbClr val="073570"/>
                </a:solidFill>
                <a:latin typeface="STXinwei" panose="02010800040101010101" charset="-122"/>
                <a:ea typeface="STXinwei" panose="02010800040101010101" charset="-122"/>
                <a:cs typeface="STXinwei" panose="02010800040101010101" charset="-122"/>
              </a:defRPr>
            </a:lvl4pPr>
            <a:lvl5pPr algn="l">
              <a:defRPr sz="8850" b="0">
                <a:solidFill>
                  <a:srgbClr val="073570"/>
                </a:solidFill>
                <a:latin typeface="STXinwei" panose="02010800040101010101" charset="-122"/>
                <a:ea typeface="STXinwei" panose="02010800040101010101" charset="-122"/>
                <a:cs typeface="STXinwei" panose="02010800040101010101" charset="-122"/>
              </a:defRPr>
            </a:lvl5pPr>
            <a:lvl6pPr algn="l">
              <a:defRPr sz="8850" b="0">
                <a:solidFill>
                  <a:srgbClr val="073570"/>
                </a:solidFill>
                <a:latin typeface="STXinwei" panose="02010800040101010101" charset="-122"/>
                <a:ea typeface="STXinwei" panose="02010800040101010101" charset="-122"/>
                <a:cs typeface="STXinwei" panose="02010800040101010101" charset="-122"/>
              </a:defRPr>
            </a:lvl6pPr>
            <a:lvl7pPr algn="l">
              <a:defRPr sz="8850" b="0">
                <a:solidFill>
                  <a:srgbClr val="073570"/>
                </a:solidFill>
                <a:latin typeface="STXinwei" panose="02010800040101010101" charset="-122"/>
                <a:ea typeface="STXinwei" panose="02010800040101010101" charset="-122"/>
                <a:cs typeface="STXinwei" panose="02010800040101010101" charset="-122"/>
              </a:defRPr>
            </a:lvl7pPr>
            <a:lvl8pPr algn="l">
              <a:defRPr sz="8850" b="0">
                <a:solidFill>
                  <a:srgbClr val="073570"/>
                </a:solidFill>
                <a:latin typeface="STXinwei" panose="02010800040101010101" charset="-122"/>
                <a:ea typeface="STXinwei" panose="02010800040101010101" charset="-122"/>
                <a:cs typeface="STXinwei" panose="02010800040101010101" charset="-122"/>
              </a:defRPr>
            </a:lvl8pPr>
            <a:lvl9pPr algn="l">
              <a:defRPr sz="8850" b="0">
                <a:solidFill>
                  <a:srgbClr val="073570"/>
                </a:solidFill>
                <a:latin typeface="STXinwei" panose="02010800040101010101" charset="-122"/>
                <a:ea typeface="STXinwei" panose="02010800040101010101" charset="-122"/>
                <a:cs typeface="STXinwei" panose="02010800040101010101" charset="-122"/>
              </a:defRPr>
            </a:lvl9pPr>
          </a:lstStyle>
          <a:p>
            <a:pPr algn="l">
              <a:defRPr sz="8850" b="0">
                <a:solidFill>
                  <a:srgbClr val="073570"/>
                </a:solidFill>
                <a:latin typeface="STXinwei" panose="02010800040101010101" charset="-122"/>
                <a:ea typeface="STXinwei" panose="02010800040101010101" charset="-122"/>
                <a:cs typeface="STXinwei" panose="02010800040101010101" charset="-122"/>
              </a:defRPr>
            </a:pPr>
            <a:r>
              <a:rPr sz="8850" b="0">
                <a:solidFill>
                  <a:srgbClr val="073570"/>
                </a:solidFill>
                <a:latin typeface="STXinwei" panose="02010800040101010101" charset="-122"/>
                <a:ea typeface="STXinwei" panose="02010800040101010101" charset="-122"/>
                <a:cs typeface="STXinwei" panose="02010800040101010101" charset="-122"/>
              </a:rPr>
              <a:t>光语者</a:t>
            </a:r>
            <a:endParaRPr sz="8850" b="0">
              <a:solidFill>
                <a:srgbClr val="073570"/>
              </a:solidFill>
              <a:latin typeface="STXinwei" panose="02010800040101010101" charset="-122"/>
              <a:ea typeface="STXinwei" panose="02010800040101010101" charset="-122"/>
              <a:cs typeface="STXinwei" panose="02010800040101010101" charset="-122"/>
            </a:endParaRPr>
          </a:p>
        </p:txBody>
      </p:sp>
      <p:sp>
        <p:nvSpPr>
          <p:cNvPr id="6" name="cover-position"/>
          <p:cNvSpPr>
            <a:spLocks noGrp="1"/>
          </p:cNvSpPr>
          <p:nvPr/>
        </p:nvSpPr>
        <p:spPr>
          <a:xfrm>
            <a:off x="695325" y="3048000"/>
            <a:ext cx="714375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625" b="0">
                <a:solidFill>
                  <a:srgbClr val="084C9B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2625" b="0">
                <a:solidFill>
                  <a:srgbClr val="084C9B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2625" b="0">
                <a:solidFill>
                  <a:srgbClr val="084C9B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2625" b="0">
                <a:solidFill>
                  <a:srgbClr val="084C9B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2625" b="0">
                <a:solidFill>
                  <a:srgbClr val="084C9B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2625" b="0">
                <a:solidFill>
                  <a:srgbClr val="084C9B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2625" b="0">
                <a:solidFill>
                  <a:srgbClr val="084C9B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2625" b="0">
                <a:solidFill>
                  <a:srgbClr val="084C9B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2625" b="0">
                <a:solidFill>
                  <a:srgbClr val="084C9B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2625" b="0">
                <a:solidFill>
                  <a:srgbClr val="084C9B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2625" b="0">
                <a:solidFill>
                  <a:srgbClr val="084C9B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2625" b="0">
                <a:solidFill>
                  <a:srgbClr val="084C9B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面向数字无障碍的桌面智能体</a:t>
            </a:r>
            <a:endParaRPr sz="2625" b="0">
              <a:solidFill>
                <a:srgbClr val="084C9B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7" name="cover-tagline"/>
          <p:cNvSpPr>
            <a:spLocks noGrp="1"/>
          </p:cNvSpPr>
          <p:nvPr/>
        </p:nvSpPr>
        <p:spPr>
          <a:xfrm>
            <a:off x="628650" y="4095750"/>
            <a:ext cx="7334250" cy="1571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5175" b="0">
                <a:solidFill>
                  <a:srgbClr val="073570"/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</a:defRPr>
            </a:defPPr>
            <a:lvl1pPr algn="l">
              <a:defRPr sz="5175" b="0">
                <a:solidFill>
                  <a:srgbClr val="073570"/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</a:defRPr>
            </a:lvl1pPr>
            <a:lvl2pPr algn="l">
              <a:defRPr sz="5175" b="0">
                <a:solidFill>
                  <a:srgbClr val="073570"/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</a:defRPr>
            </a:lvl2pPr>
            <a:lvl3pPr algn="l">
              <a:defRPr sz="5175" b="0">
                <a:solidFill>
                  <a:srgbClr val="073570"/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</a:defRPr>
            </a:lvl3pPr>
            <a:lvl4pPr algn="l">
              <a:defRPr sz="5175" b="0">
                <a:solidFill>
                  <a:srgbClr val="073570"/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</a:defRPr>
            </a:lvl4pPr>
            <a:lvl5pPr algn="l">
              <a:defRPr sz="5175" b="0">
                <a:solidFill>
                  <a:srgbClr val="073570"/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</a:defRPr>
            </a:lvl5pPr>
            <a:lvl6pPr algn="l">
              <a:defRPr sz="5175" b="0">
                <a:solidFill>
                  <a:srgbClr val="073570"/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</a:defRPr>
            </a:lvl6pPr>
            <a:lvl7pPr algn="l">
              <a:defRPr sz="5175" b="0">
                <a:solidFill>
                  <a:srgbClr val="073570"/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</a:defRPr>
            </a:lvl7pPr>
            <a:lvl8pPr algn="l">
              <a:defRPr sz="5175" b="0">
                <a:solidFill>
                  <a:srgbClr val="073570"/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</a:defRPr>
            </a:lvl8pPr>
            <a:lvl9pPr algn="l">
              <a:defRPr sz="5175" b="0">
                <a:solidFill>
                  <a:srgbClr val="073570"/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</a:defRPr>
            </a:lvl9pPr>
          </a:lstStyle>
          <a:p>
            <a:pPr algn="l">
              <a:defRPr sz="5175" b="0">
                <a:solidFill>
                  <a:srgbClr val="073570"/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</a:defRPr>
            </a:pPr>
            <a:r>
              <a:rPr sz="5175" b="0">
                <a:solidFill>
                  <a:srgbClr val="073570"/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</a:rPr>
              <a:t>让数字生活</a:t>
            </a:r>
            <a:endParaRPr sz="5175" b="0">
              <a:solidFill>
                <a:srgbClr val="073570"/>
              </a:solidFill>
              <a:latin typeface="STKaiti" panose="02010600040101010101" charset="-122"/>
              <a:ea typeface="STKaiti" panose="02010600040101010101" charset="-122"/>
              <a:cs typeface="STKaiti" panose="02010600040101010101" charset="-122"/>
            </a:endParaRPr>
          </a:p>
          <a:p>
            <a:pPr algn="l">
              <a:defRPr sz="5175" b="0">
                <a:solidFill>
                  <a:srgbClr val="073570"/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</a:defRPr>
            </a:pPr>
            <a:r>
              <a:rPr sz="5175" b="0">
                <a:solidFill>
                  <a:srgbClr val="073570"/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</a:rPr>
              <a:t>少一道门槛</a:t>
            </a:r>
            <a:endParaRPr sz="5175" b="0">
              <a:solidFill>
                <a:srgbClr val="073570"/>
              </a:solidFill>
              <a:latin typeface="STKaiti" panose="02010600040101010101" charset="-122"/>
              <a:ea typeface="STKaiti" panose="02010600040101010101" charset="-122"/>
              <a:cs typeface="STKaiti" panose="02010600040101010101" charset="-122"/>
            </a:endParaRPr>
          </a:p>
        </p:txBody>
      </p:sp>
      <p:sp>
        <p:nvSpPr>
          <p:cNvPr id="8" name="cover-feature-1"/>
          <p:cNvSpPr>
            <a:spLocks noGrp="1"/>
          </p:cNvSpPr>
          <p:nvPr/>
        </p:nvSpPr>
        <p:spPr>
          <a:xfrm>
            <a:off x="695325" y="6105525"/>
            <a:ext cx="6667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21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21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21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21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21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21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21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21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21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21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21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手机委托任务，电脑跨应用执行</a:t>
            </a:r>
            <a:endParaRPr sz="2175" b="0">
              <a:solidFill>
                <a:srgbClr val="516278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9" name="cover-feature-2"/>
          <p:cNvSpPr>
            <a:spLocks noGrp="1"/>
          </p:cNvSpPr>
          <p:nvPr/>
        </p:nvSpPr>
        <p:spPr>
          <a:xfrm>
            <a:off x="695325" y="6553200"/>
            <a:ext cx="6667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21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21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21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21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21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21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21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21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21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21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21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用户随时纠正，关键操作确认</a:t>
            </a:r>
            <a:endParaRPr sz="2175" b="0">
              <a:solidFill>
                <a:srgbClr val="516278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10" name="desktop-mount"/>
          <p:cNvSpPr>
            <a:spLocks noGrp="1"/>
          </p:cNvSpPr>
          <p:nvPr/>
        </p:nvSpPr>
        <p:spPr>
          <a:xfrm>
            <a:off x="8105775" y="2219325"/>
            <a:ext cx="6477000" cy="2781300"/>
          </a:xfrm>
          <a:prstGeom prst="rect">
            <a:avLst/>
          </a:prstGeom>
          <a:solidFill>
            <a:srgbClr val="FFFFFF"/>
          </a:solidFill>
          <a:ln w="14288">
            <a:solidFill>
              <a:srgbClr val="AAC8E2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11" name="desktop-label-text"/>
          <p:cNvSpPr>
            <a:spLocks noGrp="1"/>
          </p:cNvSpPr>
          <p:nvPr/>
        </p:nvSpPr>
        <p:spPr>
          <a:xfrm>
            <a:off x="8324850" y="2371725"/>
            <a:ext cx="59721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电脑执行 · 实际查询画面</a:t>
            </a:r>
            <a:endParaRPr sz="1875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9125" y="2867663"/>
            <a:ext cx="6210300" cy="1865625"/>
          </a:xfrm>
          <a:prstGeom prst="rect">
            <a:avLst/>
          </a:prstGeom>
        </p:spPr>
      </p:pic>
      <p:sp>
        <p:nvSpPr>
          <p:cNvPr id="13" name="phone-mount"/>
          <p:cNvSpPr>
            <a:spLocks noGrp="1"/>
          </p:cNvSpPr>
          <p:nvPr/>
        </p:nvSpPr>
        <p:spPr>
          <a:xfrm>
            <a:off x="7753350" y="3800475"/>
            <a:ext cx="2381250" cy="3648075"/>
          </a:xfrm>
          <a:prstGeom prst="rect">
            <a:avLst/>
          </a:prstGeom>
          <a:solidFill>
            <a:srgbClr val="FFFFFF"/>
          </a:solidFill>
          <a:ln w="14288">
            <a:solidFill>
              <a:srgbClr val="AAC8E2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11">
            <a:srgbClr val="FFFFFF"/>
          </a:effectRef>
          <a:fontRef idx="major"/>
        </p:style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0130" y="3895725"/>
            <a:ext cx="2207690" cy="3352800"/>
          </a:xfrm>
          <a:prstGeom prst="rect">
            <a:avLst/>
          </a:prstGeom>
        </p:spPr>
      </p:pic>
      <p:sp>
        <p:nvSpPr>
          <p:cNvPr id="15" name="phone-caption"/>
          <p:cNvSpPr>
            <a:spLocks noGrp="1"/>
          </p:cNvSpPr>
          <p:nvPr/>
        </p:nvSpPr>
        <p:spPr>
          <a:xfrm>
            <a:off x="10572750" y="5734050"/>
            <a:ext cx="361950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325" b="0">
                <a:solidFill>
                  <a:srgbClr val="084C9B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2325" b="0">
                <a:solidFill>
                  <a:srgbClr val="084C9B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2325" b="0">
                <a:solidFill>
                  <a:srgbClr val="084C9B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2325" b="0">
                <a:solidFill>
                  <a:srgbClr val="084C9B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2325" b="0">
                <a:solidFill>
                  <a:srgbClr val="084C9B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2325" b="0">
                <a:solidFill>
                  <a:srgbClr val="084C9B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2325" b="0">
                <a:solidFill>
                  <a:srgbClr val="084C9B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2325" b="0">
                <a:solidFill>
                  <a:srgbClr val="084C9B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2325" b="0">
                <a:solidFill>
                  <a:srgbClr val="084C9B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2325" b="0">
                <a:solidFill>
                  <a:srgbClr val="084C9B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2325" b="0">
                <a:solidFill>
                  <a:srgbClr val="084C9B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2325" b="0">
                <a:solidFill>
                  <a:srgbClr val="084C9B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手机发起</a:t>
            </a:r>
            <a:endParaRPr sz="2325" b="0">
              <a:solidFill>
                <a:srgbClr val="084C9B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  <a:p>
            <a:pPr algn="l">
              <a:defRPr sz="2325" b="0">
                <a:solidFill>
                  <a:srgbClr val="084C9B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2325" b="0">
                <a:solidFill>
                  <a:srgbClr val="084C9B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电脑接续执行</a:t>
            </a:r>
            <a:endParaRPr sz="2325" b="0">
              <a:solidFill>
                <a:srgbClr val="084C9B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16" name="cover-bottom-light"/>
          <p:cNvSpPr>
            <a:spLocks noGrp="1"/>
          </p:cNvSpPr>
          <p:nvPr/>
        </p:nvSpPr>
        <p:spPr>
          <a:xfrm>
            <a:off x="0" y="7181850"/>
            <a:ext cx="15240000" cy="1390650"/>
          </a:xfrm>
          <a:custGeom>
            <a:avLst/>
            <a:gdLst/>
            <a:ahLst/>
            <a:cxnLst/>
            <a:pathLst>
              <a:path w="15240000" h="1390650">
                <a:moveTo>
                  <a:pt x="0" y="114300"/>
                </a:moveTo>
                <a:cubicBezTo>
                  <a:pt x="4191000" y="809625"/>
                  <a:pt x="10001250" y="828675"/>
                  <a:pt x="15240000" y="0"/>
                </a:cubicBezTo>
                <a:lnTo>
                  <a:pt x="15240000" y="1390650"/>
                </a:lnTo>
                <a:lnTo>
                  <a:pt x="0" y="1390650"/>
                </a:lnTo>
                <a:close/>
              </a:path>
            </a:pathLst>
          </a:custGeom>
          <a:solidFill>
            <a:srgbClr val="94C8EC"/>
          </a:solidFill>
          <a:ln w="0">
            <a:noFill/>
          </a:ln>
        </p:spPr>
      </p:sp>
      <p:sp>
        <p:nvSpPr>
          <p:cNvPr id="17" name="cover-bottom"/>
          <p:cNvSpPr>
            <a:spLocks noGrp="1"/>
          </p:cNvSpPr>
          <p:nvPr/>
        </p:nvSpPr>
        <p:spPr>
          <a:xfrm>
            <a:off x="0" y="7353300"/>
            <a:ext cx="15240000" cy="1219200"/>
          </a:xfrm>
          <a:custGeom>
            <a:avLst/>
            <a:gdLst/>
            <a:ahLst/>
            <a:cxnLst/>
            <a:pathLst>
              <a:path w="15240000" h="1219200">
                <a:moveTo>
                  <a:pt x="0" y="114300"/>
                </a:moveTo>
                <a:cubicBezTo>
                  <a:pt x="4191000" y="809625"/>
                  <a:pt x="10001250" y="828675"/>
                  <a:pt x="15240000" y="0"/>
                </a:cubicBezTo>
                <a:lnTo>
                  <a:pt x="15240000" y="1219200"/>
                </a:lnTo>
                <a:lnTo>
                  <a:pt x="0" y="1219200"/>
                </a:lnTo>
                <a:close/>
              </a:path>
            </a:pathLst>
          </a:custGeom>
          <a:solidFill>
            <a:srgbClr val="084C9B"/>
          </a:solidFill>
          <a:ln w="0">
            <a:noFill/>
          </a:ln>
        </p:spPr>
      </p:sp>
      <p:sp>
        <p:nvSpPr>
          <p:cNvPr id="18" name="cover-team"/>
          <p:cNvSpPr>
            <a:spLocks noGrp="1"/>
          </p:cNvSpPr>
          <p:nvPr/>
        </p:nvSpPr>
        <p:spPr>
          <a:xfrm>
            <a:off x="657225" y="7734300"/>
            <a:ext cx="3810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32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32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32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32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32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32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32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32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32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32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32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32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应光团队</a:t>
            </a:r>
            <a:endParaRPr sz="2325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9" name="cover-id"/>
          <p:cNvSpPr>
            <a:spLocks noGrp="1"/>
          </p:cNvSpPr>
          <p:nvPr/>
        </p:nvSpPr>
        <p:spPr>
          <a:xfrm>
            <a:off x="657225" y="8162925"/>
            <a:ext cx="47625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00" b="0">
                <a:solidFill>
                  <a:srgbClr val="DAEAF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500" b="0">
                <a:solidFill>
                  <a:srgbClr val="DAEAF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500" b="0">
                <a:solidFill>
                  <a:srgbClr val="DAEAF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500" b="0">
                <a:solidFill>
                  <a:srgbClr val="DAEAF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500" b="0">
                <a:solidFill>
                  <a:srgbClr val="DAEAF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500" b="0">
                <a:solidFill>
                  <a:srgbClr val="DAEAF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500" b="0">
                <a:solidFill>
                  <a:srgbClr val="DAEAF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500" b="0">
                <a:solidFill>
                  <a:srgbClr val="DAEAF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500" b="0">
                <a:solidFill>
                  <a:srgbClr val="DAEAF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500" b="0">
                <a:solidFill>
                  <a:srgbClr val="DAEAF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500" b="0">
                <a:solidFill>
                  <a:srgbClr val="DAEAF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500" b="0">
                <a:solidFill>
                  <a:srgbClr val="DAEAF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AIC-2026-88229444</a:t>
            </a:r>
            <a:endParaRPr sz="1500" b="0">
              <a:solidFill>
                <a:srgbClr val="DAEAF8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20" name="cover-kernel"/>
          <p:cNvSpPr>
            <a:spLocks noGrp="1"/>
          </p:cNvSpPr>
          <p:nvPr/>
        </p:nvSpPr>
        <p:spPr>
          <a:xfrm>
            <a:off x="8429625" y="7781925"/>
            <a:ext cx="61341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21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r">
              <a:defRPr sz="21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r">
              <a:defRPr sz="21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r">
              <a:defRPr sz="21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r">
              <a:defRPr sz="21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r">
              <a:defRPr sz="21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r">
              <a:defRPr sz="21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r">
              <a:defRPr sz="21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r">
              <a:defRPr sz="21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r">
              <a:defRPr sz="21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r">
              <a:defRPr sz="21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1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自主 Computer Harness 运行时</a:t>
            </a:r>
            <a:endParaRPr sz="2175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1" name="cover-kernel-sub"/>
          <p:cNvSpPr>
            <a:spLocks noGrp="1"/>
          </p:cNvSpPr>
          <p:nvPr/>
        </p:nvSpPr>
        <p:spPr>
          <a:xfrm>
            <a:off x="8429625" y="8172450"/>
            <a:ext cx="61341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575" b="0">
                <a:solidFill>
                  <a:srgbClr val="DAEAF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r">
              <a:defRPr sz="1575" b="0">
                <a:solidFill>
                  <a:srgbClr val="DAEAF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r">
              <a:defRPr sz="1575" b="0">
                <a:solidFill>
                  <a:srgbClr val="DAEAF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r">
              <a:defRPr sz="1575" b="0">
                <a:solidFill>
                  <a:srgbClr val="DAEAF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r">
              <a:defRPr sz="1575" b="0">
                <a:solidFill>
                  <a:srgbClr val="DAEAF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r">
              <a:defRPr sz="1575" b="0">
                <a:solidFill>
                  <a:srgbClr val="DAEAF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r">
              <a:defRPr sz="1575" b="0">
                <a:solidFill>
                  <a:srgbClr val="DAEAF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r">
              <a:defRPr sz="1575" b="0">
                <a:solidFill>
                  <a:srgbClr val="DAEAF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r">
              <a:defRPr sz="1575" b="0">
                <a:solidFill>
                  <a:srgbClr val="DAEAF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r">
              <a:defRPr sz="1575" b="0">
                <a:solidFill>
                  <a:srgbClr val="DAEAF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r">
              <a:defRPr sz="1575" b="0">
                <a:solidFill>
                  <a:srgbClr val="DAEAF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575" b="0">
                <a:solidFill>
                  <a:srgbClr val="DAEAF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基于开源 CUA 构建真实桌面任务执行能力</a:t>
            </a:r>
            <a:endParaRPr sz="1575" b="0">
              <a:solidFill>
                <a:srgbClr val="DAEAF8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5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section"/>
          <p:cNvSpPr>
            <a:spLocks noGrp="1"/>
          </p:cNvSpPr>
          <p:nvPr/>
        </p:nvSpPr>
        <p:spPr>
          <a:xfrm>
            <a:off x="619125" y="314325"/>
            <a:ext cx="12668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350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350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350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350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350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350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350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350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350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350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350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答辩结构</a:t>
            </a:r>
            <a:endParaRPr sz="1350" b="0">
              <a:solidFill>
                <a:srgbClr val="B7D4EC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2" name="heading"/>
          <p:cNvSpPr>
            <a:spLocks noGrp="1"/>
          </p:cNvSpPr>
          <p:nvPr/>
        </p:nvSpPr>
        <p:spPr>
          <a:xfrm>
            <a:off x="619125" y="762000"/>
            <a:ext cx="1400175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450" b="1">
                <a:solidFill>
                  <a:srgbClr val="FFFFFF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defPPr>
            <a:lvl1pPr algn="l">
              <a:defRPr sz="3450" b="1">
                <a:solidFill>
                  <a:srgbClr val="FFFFFF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1pPr>
            <a:lvl2pPr algn="l">
              <a:defRPr sz="3450" b="1">
                <a:solidFill>
                  <a:srgbClr val="FFFFFF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2pPr>
            <a:lvl3pPr algn="l">
              <a:defRPr sz="3450" b="1">
                <a:solidFill>
                  <a:srgbClr val="FFFFFF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3pPr>
            <a:lvl4pPr algn="l">
              <a:defRPr sz="3450" b="1">
                <a:solidFill>
                  <a:srgbClr val="FFFFFF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4pPr>
            <a:lvl5pPr algn="l">
              <a:defRPr sz="3450" b="1">
                <a:solidFill>
                  <a:srgbClr val="FFFFFF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5pPr>
            <a:lvl6pPr algn="l">
              <a:defRPr sz="3450" b="1">
                <a:solidFill>
                  <a:srgbClr val="FFFFFF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6pPr>
            <a:lvl7pPr algn="l">
              <a:defRPr sz="3450" b="1">
                <a:solidFill>
                  <a:srgbClr val="FFFFFF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7pPr>
            <a:lvl8pPr algn="l">
              <a:defRPr sz="3450" b="1">
                <a:solidFill>
                  <a:srgbClr val="FFFFFF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8pPr>
            <a:lvl9pPr algn="l">
              <a:defRPr sz="3450" b="1">
                <a:solidFill>
                  <a:srgbClr val="FFFFFF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9pPr>
          </a:lstStyle>
          <a:p>
            <a:pPr algn="l">
              <a:defRPr sz="3450" b="1">
                <a:solidFill>
                  <a:srgbClr val="FFFFFF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pPr>
            <a:r>
              <a:rPr sz="3450" b="1">
                <a:solidFill>
                  <a:srgbClr val="FFFFFF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rPr>
              <a:t>内容安排</a:t>
            </a:r>
            <a:endParaRPr sz="3450" b="1">
              <a:solidFill>
                <a:srgbClr val="FFFFFF"/>
              </a:solidFill>
              <a:latin typeface="STSong" panose="02010600040101010101" charset="-122"/>
              <a:ea typeface="STSong" panose="02010600040101010101" charset="-122"/>
              <a:cs typeface="STSong" panose="02010600040101010101" charset="-122"/>
            </a:endParaRPr>
          </a:p>
        </p:txBody>
      </p:sp>
      <p:sp>
        <p:nvSpPr>
          <p:cNvPr id="3" name="head-rule"/>
          <p:cNvSpPr>
            <a:spLocks noGrp="1"/>
          </p:cNvSpPr>
          <p:nvPr/>
        </p:nvSpPr>
        <p:spPr>
          <a:xfrm>
            <a:off x="619125" y="1619250"/>
            <a:ext cx="14001750" cy="13335"/>
          </a:xfrm>
          <a:prstGeom prst="rect">
            <a:avLst/>
          </a:prstGeom>
          <a:solidFill>
            <a:srgbClr val="527DA4"/>
          </a:solidFill>
          <a:ln w="0">
            <a:noFill/>
          </a:ln>
        </p:spPr>
      </p:sp>
      <p:sp>
        <p:nvSpPr>
          <p:cNvPr id="4" name="brand"/>
          <p:cNvSpPr>
            <a:spLocks noGrp="1"/>
          </p:cNvSpPr>
          <p:nvPr/>
        </p:nvSpPr>
        <p:spPr>
          <a:xfrm>
            <a:off x="619125" y="8124825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75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275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275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275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275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275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275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275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275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275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275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275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光语者  /  Lightspeaker</a:t>
            </a:r>
            <a:endParaRPr sz="1275" b="0">
              <a:solidFill>
                <a:srgbClr val="B7D4EC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5" name="page"/>
          <p:cNvSpPr>
            <a:spLocks noGrp="1"/>
          </p:cNvSpPr>
          <p:nvPr/>
        </p:nvSpPr>
        <p:spPr>
          <a:xfrm>
            <a:off x="14049375" y="80867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5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r">
              <a:defRPr sz="15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r">
              <a:defRPr sz="15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r">
              <a:defRPr sz="15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r">
              <a:defRPr sz="15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r">
              <a:defRPr sz="15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r">
              <a:defRPr sz="15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r">
              <a:defRPr sz="15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r">
              <a:defRPr sz="15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r">
              <a:defRPr sz="15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r">
              <a:defRPr sz="15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02</a:t>
            </a:r>
            <a:endParaRPr sz="1575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toc-art"/>
          <p:cNvSpPr>
            <a:spLocks noGrp="1"/>
          </p:cNvSpPr>
          <p:nvPr/>
        </p:nvSpPr>
        <p:spPr>
          <a:xfrm>
            <a:off x="714375" y="2409825"/>
            <a:ext cx="581025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6825" b="0">
                <a:solidFill>
                  <a:srgbClr val="FFFFFF"/>
                </a:solidFill>
                <a:latin typeface="STXinwei" panose="02010800040101010101" charset="-122"/>
                <a:ea typeface="STXinwei" panose="02010800040101010101" charset="-122"/>
                <a:cs typeface="STXinwei" panose="02010800040101010101" charset="-122"/>
              </a:defRPr>
            </a:defPPr>
            <a:lvl1pPr algn="l">
              <a:defRPr sz="6825" b="0">
                <a:solidFill>
                  <a:srgbClr val="FFFFFF"/>
                </a:solidFill>
                <a:latin typeface="STXinwei" panose="02010800040101010101" charset="-122"/>
                <a:ea typeface="STXinwei" panose="02010800040101010101" charset="-122"/>
                <a:cs typeface="STXinwei" panose="02010800040101010101" charset="-122"/>
              </a:defRPr>
            </a:lvl1pPr>
            <a:lvl2pPr algn="l">
              <a:defRPr sz="6825" b="0">
                <a:solidFill>
                  <a:srgbClr val="FFFFFF"/>
                </a:solidFill>
                <a:latin typeface="STXinwei" panose="02010800040101010101" charset="-122"/>
                <a:ea typeface="STXinwei" panose="02010800040101010101" charset="-122"/>
                <a:cs typeface="STXinwei" panose="02010800040101010101" charset="-122"/>
              </a:defRPr>
            </a:lvl2pPr>
            <a:lvl3pPr algn="l">
              <a:defRPr sz="6825" b="0">
                <a:solidFill>
                  <a:srgbClr val="FFFFFF"/>
                </a:solidFill>
                <a:latin typeface="STXinwei" panose="02010800040101010101" charset="-122"/>
                <a:ea typeface="STXinwei" panose="02010800040101010101" charset="-122"/>
                <a:cs typeface="STXinwei" panose="02010800040101010101" charset="-122"/>
              </a:defRPr>
            </a:lvl3pPr>
            <a:lvl4pPr algn="l">
              <a:defRPr sz="6825" b="0">
                <a:solidFill>
                  <a:srgbClr val="FFFFFF"/>
                </a:solidFill>
                <a:latin typeface="STXinwei" panose="02010800040101010101" charset="-122"/>
                <a:ea typeface="STXinwei" panose="02010800040101010101" charset="-122"/>
                <a:cs typeface="STXinwei" panose="02010800040101010101" charset="-122"/>
              </a:defRPr>
            </a:lvl4pPr>
            <a:lvl5pPr algn="l">
              <a:defRPr sz="6825" b="0">
                <a:solidFill>
                  <a:srgbClr val="FFFFFF"/>
                </a:solidFill>
                <a:latin typeface="STXinwei" panose="02010800040101010101" charset="-122"/>
                <a:ea typeface="STXinwei" panose="02010800040101010101" charset="-122"/>
                <a:cs typeface="STXinwei" panose="02010800040101010101" charset="-122"/>
              </a:defRPr>
            </a:lvl5pPr>
            <a:lvl6pPr algn="l">
              <a:defRPr sz="6825" b="0">
                <a:solidFill>
                  <a:srgbClr val="FFFFFF"/>
                </a:solidFill>
                <a:latin typeface="STXinwei" panose="02010800040101010101" charset="-122"/>
                <a:ea typeface="STXinwei" panose="02010800040101010101" charset="-122"/>
                <a:cs typeface="STXinwei" panose="02010800040101010101" charset="-122"/>
              </a:defRPr>
            </a:lvl6pPr>
            <a:lvl7pPr algn="l">
              <a:defRPr sz="6825" b="0">
                <a:solidFill>
                  <a:srgbClr val="FFFFFF"/>
                </a:solidFill>
                <a:latin typeface="STXinwei" panose="02010800040101010101" charset="-122"/>
                <a:ea typeface="STXinwei" panose="02010800040101010101" charset="-122"/>
                <a:cs typeface="STXinwei" panose="02010800040101010101" charset="-122"/>
              </a:defRPr>
            </a:lvl7pPr>
            <a:lvl8pPr algn="l">
              <a:defRPr sz="6825" b="0">
                <a:solidFill>
                  <a:srgbClr val="FFFFFF"/>
                </a:solidFill>
                <a:latin typeface="STXinwei" panose="02010800040101010101" charset="-122"/>
                <a:ea typeface="STXinwei" panose="02010800040101010101" charset="-122"/>
                <a:cs typeface="STXinwei" panose="02010800040101010101" charset="-122"/>
              </a:defRPr>
            </a:lvl8pPr>
            <a:lvl9pPr algn="l">
              <a:defRPr sz="6825" b="0">
                <a:solidFill>
                  <a:srgbClr val="FFFFFF"/>
                </a:solidFill>
                <a:latin typeface="STXinwei" panose="02010800040101010101" charset="-122"/>
                <a:ea typeface="STXinwei" panose="02010800040101010101" charset="-122"/>
                <a:cs typeface="STXinwei" panose="02010800040101010101" charset="-122"/>
              </a:defRPr>
            </a:lvl9pPr>
          </a:lstStyle>
          <a:p>
            <a:pPr algn="l">
              <a:defRPr sz="6825" b="0">
                <a:solidFill>
                  <a:srgbClr val="FFFFFF"/>
                </a:solidFill>
                <a:latin typeface="STXinwei" panose="02010800040101010101" charset="-122"/>
                <a:ea typeface="STXinwei" panose="02010800040101010101" charset="-122"/>
                <a:cs typeface="STXinwei" panose="02010800040101010101" charset="-122"/>
              </a:defRPr>
            </a:pPr>
            <a:r>
              <a:rPr sz="6825" b="0">
                <a:solidFill>
                  <a:srgbClr val="FFFFFF"/>
                </a:solidFill>
                <a:latin typeface="STXinwei" panose="02010800040101010101" charset="-122"/>
                <a:ea typeface="STXinwei" panose="02010800040101010101" charset="-122"/>
                <a:cs typeface="STXinwei" panose="02010800040101010101" charset="-122"/>
              </a:rPr>
              <a:t>光语者</a:t>
            </a:r>
            <a:endParaRPr sz="6825" b="0">
              <a:solidFill>
                <a:srgbClr val="FFFFFF"/>
              </a:solidFill>
              <a:latin typeface="STXinwei" panose="02010800040101010101" charset="-122"/>
              <a:ea typeface="STXinwei" panose="02010800040101010101" charset="-122"/>
              <a:cs typeface="STXinwei" panose="02010800040101010101" charset="-122"/>
            </a:endParaRPr>
          </a:p>
        </p:txBody>
      </p:sp>
      <p:sp>
        <p:nvSpPr>
          <p:cNvPr id="7" name="toc-summary"/>
          <p:cNvSpPr>
            <a:spLocks noGrp="1"/>
          </p:cNvSpPr>
          <p:nvPr/>
        </p:nvSpPr>
        <p:spPr>
          <a:xfrm>
            <a:off x="781050" y="4067175"/>
            <a:ext cx="5619750" cy="3076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325" b="0">
                <a:solidFill>
                  <a:srgbClr val="D3E4F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2325" b="0">
                <a:solidFill>
                  <a:srgbClr val="D3E4F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2325" b="0">
                <a:solidFill>
                  <a:srgbClr val="D3E4F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2325" b="0">
                <a:solidFill>
                  <a:srgbClr val="D3E4F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2325" b="0">
                <a:solidFill>
                  <a:srgbClr val="D3E4F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2325" b="0">
                <a:solidFill>
                  <a:srgbClr val="D3E4F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2325" b="0">
                <a:solidFill>
                  <a:srgbClr val="D3E4F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2325" b="0">
                <a:solidFill>
                  <a:srgbClr val="D3E4F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2325" b="0">
                <a:solidFill>
                  <a:srgbClr val="D3E4F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2325" b="0">
                <a:solidFill>
                  <a:srgbClr val="D3E4F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2325" b="0">
                <a:solidFill>
                  <a:srgbClr val="D3E4F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2325" b="0">
                <a:solidFill>
                  <a:srgbClr val="D3E4F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手机协同桌面智能体</a:t>
            </a:r>
            <a:endParaRPr sz="2325" b="0">
              <a:solidFill>
                <a:srgbClr val="D3E4F1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  <a:p>
            <a:endParaRPr sz="2325"/>
          </a:p>
          <a:p>
            <a:pPr algn="l">
              <a:defRPr sz="2325" b="0">
                <a:solidFill>
                  <a:srgbClr val="D3E4F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2325" b="0">
                <a:solidFill>
                  <a:srgbClr val="D3E4F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应光团队</a:t>
            </a:r>
            <a:endParaRPr sz="2325" b="0">
              <a:solidFill>
                <a:srgbClr val="D3E4F1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  <a:p>
            <a:pPr algn="l">
              <a:defRPr sz="2325" b="0">
                <a:solidFill>
                  <a:srgbClr val="D3E4F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2325" b="0">
                <a:solidFill>
                  <a:srgbClr val="D3E4F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AIC-2026-88229444</a:t>
            </a:r>
            <a:endParaRPr sz="2325" b="0">
              <a:solidFill>
                <a:srgbClr val="D3E4F1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8" name="id0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239000" y="2171700"/>
            <a:ext cx="8763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01</a:t>
            </a:r>
            <a:endParaRPr sz="3525" b="1">
              <a:solidFill>
                <a:srgbClr val="8CBDE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9" name="nav-to-3">
            <a:hlinkClick r:id="rId2" action="ppaction://hlinksldjump"/>
          </p:cNvPr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420100" y="2171700"/>
            <a:ext cx="58102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需求与交互设计</a:t>
            </a:r>
            <a:endParaRPr sz="255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0" name="d0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439150" y="2752725"/>
            <a:ext cx="6000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无障碍需求 · 手机委托 · 用户控制</a:t>
            </a:r>
            <a:endParaRPr sz="1800" b="0">
              <a:solidFill>
                <a:srgbClr val="C6DCEF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11" name="sep0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401050" y="3267075"/>
            <a:ext cx="5962650" cy="13335"/>
          </a:xfrm>
          <a:prstGeom prst="rect">
            <a:avLst/>
          </a:prstGeom>
          <a:solidFill>
            <a:srgbClr val="416B91"/>
          </a:solidFill>
          <a:ln w="0">
            <a:noFill/>
          </a:ln>
        </p:spPr>
      </p:sp>
      <p:sp>
        <p:nvSpPr>
          <p:cNvPr id="12" name="id0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7239000" y="3552825"/>
            <a:ext cx="8763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02</a:t>
            </a:r>
            <a:endParaRPr sz="3525" b="1">
              <a:solidFill>
                <a:srgbClr val="8CBDE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3" name="nav-to-5">
            <a:hlinkClick r:id="rId7" action="ppaction://hlinksldjump"/>
          </p:cNvPr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8420100" y="3552825"/>
            <a:ext cx="58102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系统设计与实现</a:t>
            </a:r>
            <a:endParaRPr sz="255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d0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439150" y="4133850"/>
            <a:ext cx="6000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观察定位 · 上下文与记忆 · 执行与控制</a:t>
            </a:r>
            <a:endParaRPr sz="1800" b="0">
              <a:solidFill>
                <a:srgbClr val="C6DCEF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15" name="sep0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8401050" y="4648200"/>
            <a:ext cx="5962650" cy="13335"/>
          </a:xfrm>
          <a:prstGeom prst="rect">
            <a:avLst/>
          </a:prstGeom>
          <a:solidFill>
            <a:srgbClr val="416B91"/>
          </a:solidFill>
          <a:ln w="0">
            <a:noFill/>
          </a:ln>
        </p:spPr>
      </p:sp>
      <p:sp>
        <p:nvSpPr>
          <p:cNvPr id="16" name="id03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7239000" y="4933950"/>
            <a:ext cx="8763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03</a:t>
            </a:r>
            <a:endParaRPr sz="3525" b="1">
              <a:solidFill>
                <a:srgbClr val="8CBDE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7" name="nav-to-10">
            <a:hlinkClick r:id="rId12" action="ppaction://hlinksldjump"/>
          </p:cNvPr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8420100" y="4933950"/>
            <a:ext cx="58102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实机演示与任务验证</a:t>
            </a:r>
            <a:endParaRPr sz="255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8" name="d03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8439150" y="5514975"/>
            <a:ext cx="6000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Windows跨应用 · macOS纠正 · 六类任务</a:t>
            </a:r>
            <a:endParaRPr sz="1800" b="0">
              <a:solidFill>
                <a:srgbClr val="C6DCEF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19" name="sep03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8401050" y="6029325"/>
            <a:ext cx="5962650" cy="13335"/>
          </a:xfrm>
          <a:prstGeom prst="rect">
            <a:avLst/>
          </a:prstGeom>
          <a:solidFill>
            <a:srgbClr val="416B91"/>
          </a:solidFill>
          <a:ln w="0">
            <a:noFill/>
          </a:ln>
        </p:spPr>
      </p:sp>
      <p:sp>
        <p:nvSpPr>
          <p:cNvPr id="20" name="id04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7239000" y="6315075"/>
            <a:ext cx="8763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3525" b="1">
                <a:solidFill>
                  <a:srgbClr val="8CBD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04</a:t>
            </a:r>
            <a:endParaRPr sz="3525" b="1">
              <a:solidFill>
                <a:srgbClr val="8CBDE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1" name="nav-to-13">
            <a:hlinkClick r:id="rId17" action="ppaction://hlinksldjump"/>
          </p:cNvPr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8420100" y="6315075"/>
            <a:ext cx="58102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开源贡献与后续工作</a:t>
            </a:r>
            <a:endParaRPr sz="255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2" name="d04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8439150" y="6896100"/>
            <a:ext cx="6000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CUA输入修复 · OpenGCUA协作</a:t>
            </a:r>
            <a:endParaRPr sz="1800" b="0">
              <a:solidFill>
                <a:srgbClr val="C6DCEF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23" name="sep04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8401050" y="7410450"/>
            <a:ext cx="5962650" cy="13335"/>
          </a:xfrm>
          <a:prstGeom prst="rect">
            <a:avLst/>
          </a:prstGeom>
          <a:solidFill>
            <a:srgbClr val="416B91"/>
          </a:solidFill>
          <a:ln w="0">
            <a:noFill/>
          </a:ln>
        </p:spPr>
      </p:sp>
      <p:sp>
        <p:nvSpPr>
          <p:cNvPr id="60" name="updated-text-60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62000" y="5953125"/>
            <a:ext cx="5619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00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725" b="0">
                <a:solidFill>
                  <a:srgbClr val="C6DCEF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项目优势</a:t>
            </a:r>
          </a:p>
        </p:txBody>
      </p:sp>
      <p:sp>
        <p:nvSpPr>
          <p:cNvPr id="61" name="updated-text-61">
            <a:hlinkClick r:id="rId2" action="ppaction://hlinksldjump"/>
          </p:cNvPr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62000" y="6391275"/>
            <a:ext cx="5619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32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技术普惠　　人本协同</a:t>
            </a:r>
          </a:p>
        </p:txBody>
      </p:sp>
      <p:sp>
        <p:nvSpPr>
          <p:cNvPr id="62" name="updated-text-62">
            <a:hlinkClick r:id="rId2" action="ppaction://hlinksldjump"/>
          </p:cNvPr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62000" y="6943725"/>
            <a:ext cx="5619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32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自主运行时　开源共建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section"/>
          <p:cNvSpPr>
            <a:spLocks noGrp="1"/>
          </p:cNvSpPr>
          <p:nvPr/>
        </p:nvSpPr>
        <p:spPr>
          <a:xfrm>
            <a:off x="619125" y="314325"/>
            <a:ext cx="12668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01 需求与产品</a:t>
            </a:r>
            <a:endParaRPr sz="1350" b="0">
              <a:solidFill>
                <a:srgbClr val="516278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2" name="heading"/>
          <p:cNvSpPr>
            <a:spLocks noGrp="1"/>
          </p:cNvSpPr>
          <p:nvPr/>
        </p:nvSpPr>
        <p:spPr>
          <a:xfrm>
            <a:off x="619125" y="762000"/>
            <a:ext cx="1400175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defPPr>
            <a:lvl1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1pPr>
            <a:lvl2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2pPr>
            <a:lvl3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3pPr>
            <a:lvl4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4pPr>
            <a:lvl5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5pPr>
            <a:lvl6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6pPr>
            <a:lvl7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7pPr>
            <a:lvl8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8pPr>
            <a:lvl9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9pPr>
          </a:lstStyle>
          <a:p>
            <a: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pPr>
            <a:r>
              <a: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rPr>
              <a:t>生活场景与无障碍需求</a:t>
            </a:r>
            <a:endParaRPr sz="3450" b="1">
              <a:solidFill>
                <a:srgbClr val="073570"/>
              </a:solidFill>
              <a:latin typeface="STSong" panose="02010600040101010101" charset="-122"/>
              <a:ea typeface="STSong" panose="02010600040101010101" charset="-122"/>
              <a:cs typeface="STSong" panose="02010600040101010101" charset="-122"/>
            </a:endParaRPr>
          </a:p>
        </p:txBody>
      </p:sp>
      <p:sp>
        <p:nvSpPr>
          <p:cNvPr id="3" name="head-rule"/>
          <p:cNvSpPr>
            <a:spLocks noGrp="1"/>
          </p:cNvSpPr>
          <p:nvPr/>
        </p:nvSpPr>
        <p:spPr>
          <a:xfrm>
            <a:off x="619125" y="1619250"/>
            <a:ext cx="14001750" cy="13335"/>
          </a:xfrm>
          <a:prstGeom prst="rect">
            <a:avLst/>
          </a:prstGeom>
          <a:solidFill>
            <a:srgbClr val="B7CDE1"/>
          </a:solidFill>
          <a:ln w="0">
            <a:noFill/>
          </a:ln>
        </p:spPr>
      </p:sp>
      <p:sp>
        <p:nvSpPr>
          <p:cNvPr id="4" name="brand"/>
          <p:cNvSpPr>
            <a:spLocks noGrp="1"/>
          </p:cNvSpPr>
          <p:nvPr/>
        </p:nvSpPr>
        <p:spPr>
          <a:xfrm>
            <a:off x="619125" y="8124825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光语者  /  Lightspeaker</a:t>
            </a:r>
            <a:endParaRPr sz="1275" b="0">
              <a:solidFill>
                <a:srgbClr val="516278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5" name="page"/>
          <p:cNvSpPr>
            <a:spLocks noGrp="1"/>
          </p:cNvSpPr>
          <p:nvPr/>
        </p:nvSpPr>
        <p:spPr>
          <a:xfrm>
            <a:off x="14049375" y="80867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03</a:t>
            </a:r>
            <a:endParaRPr sz="1575" b="1">
              <a:solidFill>
                <a:srgbClr val="07357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nav-to-2">
            <a:hlinkClick r:id="rId1" action="ppaction://hlinksldjump"/>
          </p:cNvPr>
          <p:cNvSpPr>
            <a:spLocks noGrp="1"/>
          </p:cNvSpPr>
          <p:nvPr/>
        </p:nvSpPr>
        <p:spPr>
          <a:xfrm>
            <a:off x="13192125" y="8105775"/>
            <a:ext cx="6191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目录</a:t>
            </a:r>
            <a:endParaRPr sz="1350" b="0">
              <a:solidFill>
                <a:srgbClr val="516278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7" name="big-question"/>
          <p:cNvSpPr>
            <a:spLocks noGrp="1"/>
          </p:cNvSpPr>
          <p:nvPr/>
        </p:nvSpPr>
        <p:spPr>
          <a:xfrm>
            <a:off x="695325" y="2162175"/>
            <a:ext cx="7000875" cy="1476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600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3600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3600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3600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3600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3600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3600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3600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3600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3600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3600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3600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信息获取与任务操作</a:t>
            </a:r>
            <a:endParaRPr sz="3600" b="1">
              <a:solidFill>
                <a:srgbClr val="07357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defRPr sz="3600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3600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是两类不同的门槛。</a:t>
            </a:r>
            <a:endParaRPr sz="3600" b="1">
              <a:solidFill>
                <a:srgbClr val="07357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8" name="b-就医、办事、出行与沟"/>
          <p:cNvSpPr>
            <a:spLocks noGrp="1"/>
          </p:cNvSpPr>
          <p:nvPr/>
        </p:nvSpPr>
        <p:spPr>
          <a:xfrm>
            <a:off x="742950" y="4048125"/>
            <a:ext cx="6667500" cy="1581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21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21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21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21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21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21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21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21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21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21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21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就医、办事、出行与沟通，常常需要在多个入口之间查找、比较、填写和确认。对视障、老年及低数字素养用户，这些操作本身就构成负担。</a:t>
            </a:r>
            <a:endParaRPr sz="2175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9" name="vertical-divider"/>
          <p:cNvSpPr>
            <a:spLocks noGrp="1"/>
          </p:cNvSpPr>
          <p:nvPr/>
        </p:nvSpPr>
        <p:spPr>
          <a:xfrm>
            <a:off x="7953375" y="2238375"/>
            <a:ext cx="13335" cy="4810125"/>
          </a:xfrm>
          <a:prstGeom prst="rect">
            <a:avLst/>
          </a:prstGeom>
          <a:solidFill>
            <a:srgbClr val="B7CDE1"/>
          </a:solidFill>
          <a:ln w="0">
            <a:noFill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725" y="2291885"/>
            <a:ext cx="1685925" cy="855005"/>
          </a:xfrm>
          <a:prstGeom prst="rect">
            <a:avLst/>
          </a:prstGeom>
        </p:spPr>
      </p:pic>
      <p:sp>
        <p:nvSpPr>
          <p:cNvPr id="11" name="h-就医准备"/>
          <p:cNvSpPr>
            <a:spLocks noGrp="1"/>
          </p:cNvSpPr>
          <p:nvPr/>
        </p:nvSpPr>
        <p:spPr>
          <a:xfrm>
            <a:off x="10448925" y="2219325"/>
            <a:ext cx="40005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就医准备</a:t>
            </a:r>
            <a:endParaRPr sz="2325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2" name="b-找院区、预约入口、到"/>
          <p:cNvSpPr>
            <a:spLocks noGrp="1"/>
          </p:cNvSpPr>
          <p:nvPr/>
        </p:nvSpPr>
        <p:spPr>
          <a:xfrm>
            <a:off x="10448925" y="2695575"/>
            <a:ext cx="3943350" cy="885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找院区、预约入口、到院材料</a:t>
            </a:r>
            <a:endParaRPr sz="1875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725" y="4062609"/>
            <a:ext cx="1685925" cy="780657"/>
          </a:xfrm>
          <a:prstGeom prst="rect">
            <a:avLst/>
          </a:prstGeom>
        </p:spPr>
      </p:pic>
      <p:sp>
        <p:nvSpPr>
          <p:cNvPr id="14" name="h-政务办事"/>
          <p:cNvSpPr>
            <a:spLocks noGrp="1"/>
          </p:cNvSpPr>
          <p:nvPr/>
        </p:nvSpPr>
        <p:spPr>
          <a:xfrm>
            <a:off x="10448925" y="3952875"/>
            <a:ext cx="40005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政务办事</a:t>
            </a:r>
            <a:endParaRPr sz="2325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5" name="b-区分本人办理、家属代"/>
          <p:cNvSpPr>
            <a:spLocks noGrp="1"/>
          </p:cNvSpPr>
          <p:nvPr/>
        </p:nvSpPr>
        <p:spPr>
          <a:xfrm>
            <a:off x="10448925" y="4429125"/>
            <a:ext cx="3943350" cy="885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区分本人办理、家属代办及资格</a:t>
            </a:r>
            <a:endParaRPr sz="1875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725" y="5801657"/>
            <a:ext cx="1685925" cy="769661"/>
          </a:xfrm>
          <a:prstGeom prst="rect">
            <a:avLst/>
          </a:prstGeom>
        </p:spPr>
      </p:pic>
      <p:sp>
        <p:nvSpPr>
          <p:cNvPr id="17" name="h-联系与交付"/>
          <p:cNvSpPr>
            <a:spLocks noGrp="1"/>
          </p:cNvSpPr>
          <p:nvPr/>
        </p:nvSpPr>
        <p:spPr>
          <a:xfrm>
            <a:off x="10448925" y="5686425"/>
            <a:ext cx="40005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联系与交付</a:t>
            </a:r>
            <a:endParaRPr sz="2325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8" name="b-把查到的信息整理后告"/>
          <p:cNvSpPr>
            <a:spLocks noGrp="1"/>
          </p:cNvSpPr>
          <p:nvPr/>
        </p:nvSpPr>
        <p:spPr>
          <a:xfrm>
            <a:off x="10448925" y="6162675"/>
            <a:ext cx="3943350" cy="885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把查到的信息整理后告诉家人</a:t>
            </a:r>
            <a:endParaRPr sz="1875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19" name="bottom-line"/>
          <p:cNvSpPr>
            <a:spLocks noGrp="1"/>
          </p:cNvSpPr>
          <p:nvPr/>
        </p:nvSpPr>
        <p:spPr>
          <a:xfrm>
            <a:off x="742950" y="6457950"/>
            <a:ext cx="6477000" cy="13335"/>
          </a:xfrm>
          <a:prstGeom prst="rect">
            <a:avLst/>
          </a:prstGeom>
          <a:solidFill>
            <a:srgbClr val="B8CCE2"/>
          </a:solidFill>
          <a:ln w="0">
            <a:noFill/>
          </a:ln>
        </p:spPr>
      </p:sp>
      <p:sp>
        <p:nvSpPr>
          <p:cNvPr id="20" name="h-从“帮助看见”走向“帮助完成”"/>
          <p:cNvSpPr>
            <a:spLocks noGrp="1"/>
          </p:cNvSpPr>
          <p:nvPr/>
        </p:nvSpPr>
        <p:spPr>
          <a:xfrm>
            <a:off x="742950" y="6800850"/>
            <a:ext cx="6858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从“帮助看见”走向“帮助完成”</a:t>
            </a:r>
            <a:endParaRPr sz="2400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section"/>
          <p:cNvSpPr>
            <a:spLocks noGrp="1"/>
          </p:cNvSpPr>
          <p:nvPr/>
        </p:nvSpPr>
        <p:spPr>
          <a:xfrm>
            <a:off x="619125" y="314325"/>
            <a:ext cx="12668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01 需求与产品</a:t>
            </a:r>
            <a:endParaRPr sz="1350" b="0">
              <a:solidFill>
                <a:srgbClr val="516278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2" name="heading"/>
          <p:cNvSpPr>
            <a:spLocks noGrp="1"/>
          </p:cNvSpPr>
          <p:nvPr/>
        </p:nvSpPr>
        <p:spPr>
          <a:xfrm>
            <a:off x="619125" y="762000"/>
            <a:ext cx="1400175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defPPr>
            <a:lvl1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1pPr>
            <a:lvl2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2pPr>
            <a:lvl3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3pPr>
            <a:lvl4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4pPr>
            <a:lvl5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5pPr>
            <a:lvl6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6pPr>
            <a:lvl7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7pPr>
            <a:lvl8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8pPr>
            <a:lvl9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9pPr>
          </a:lstStyle>
          <a:p>
            <a: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pPr>
            <a:r>
              <a: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rPr>
              <a:t>手机交互与无障碍适配</a:t>
            </a:r>
            <a:endParaRPr sz="3450" b="1">
              <a:solidFill>
                <a:srgbClr val="073570"/>
              </a:solidFill>
              <a:latin typeface="STSong" panose="02010600040101010101" charset="-122"/>
              <a:ea typeface="STSong" panose="02010600040101010101" charset="-122"/>
              <a:cs typeface="STSong" panose="02010600040101010101" charset="-122"/>
            </a:endParaRPr>
          </a:p>
        </p:txBody>
      </p:sp>
      <p:sp>
        <p:nvSpPr>
          <p:cNvPr id="3" name="head-rule"/>
          <p:cNvSpPr>
            <a:spLocks noGrp="1"/>
          </p:cNvSpPr>
          <p:nvPr/>
        </p:nvSpPr>
        <p:spPr>
          <a:xfrm>
            <a:off x="619125" y="1619250"/>
            <a:ext cx="14001750" cy="13335"/>
          </a:xfrm>
          <a:prstGeom prst="rect">
            <a:avLst/>
          </a:prstGeom>
          <a:solidFill>
            <a:srgbClr val="B7CDE1"/>
          </a:solidFill>
          <a:ln w="0">
            <a:noFill/>
          </a:ln>
        </p:spPr>
      </p:sp>
      <p:sp>
        <p:nvSpPr>
          <p:cNvPr id="4" name="brand"/>
          <p:cNvSpPr>
            <a:spLocks noGrp="1"/>
          </p:cNvSpPr>
          <p:nvPr/>
        </p:nvSpPr>
        <p:spPr>
          <a:xfrm>
            <a:off x="619125" y="8124825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光语者  /  Lightspeaker</a:t>
            </a:r>
            <a:endParaRPr sz="1275" b="0">
              <a:solidFill>
                <a:srgbClr val="516278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5" name="page"/>
          <p:cNvSpPr>
            <a:spLocks noGrp="1"/>
          </p:cNvSpPr>
          <p:nvPr/>
        </p:nvSpPr>
        <p:spPr>
          <a:xfrm>
            <a:off x="14049375" y="80867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04</a:t>
            </a:r>
            <a:endParaRPr sz="1575" b="1">
              <a:solidFill>
                <a:srgbClr val="07357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nav-to-2">
            <a:hlinkClick r:id="rId1" action="ppaction://hlinksldjump"/>
          </p:cNvPr>
          <p:cNvSpPr>
            <a:spLocks noGrp="1"/>
          </p:cNvSpPr>
          <p:nvPr/>
        </p:nvSpPr>
        <p:spPr>
          <a:xfrm>
            <a:off x="13192125" y="8105775"/>
            <a:ext cx="6191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目录</a:t>
            </a:r>
            <a:endParaRPr sz="1350" b="0">
              <a:solidFill>
                <a:srgbClr val="516278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4100" y="2075649"/>
            <a:ext cx="3143250" cy="4773627"/>
          </a:xfrm>
          <a:prstGeom prst="rect">
            <a:avLst/>
          </a:prstGeom>
        </p:spPr>
      </p:pic>
      <p:sp>
        <p:nvSpPr>
          <p:cNvPr id="8" name="num-01"/>
          <p:cNvSpPr>
            <a:spLocks noGrp="1"/>
          </p:cNvSpPr>
          <p:nvPr/>
        </p:nvSpPr>
        <p:spPr>
          <a:xfrm>
            <a:off x="666750" y="2162175"/>
            <a:ext cx="6286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01</a:t>
            </a:r>
            <a:endParaRPr sz="3300" b="1">
              <a:solidFill>
                <a:srgbClr val="94B6D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9" name="h-文字与语音，同一个入口"/>
          <p:cNvSpPr>
            <a:spLocks noGrp="1"/>
          </p:cNvSpPr>
          <p:nvPr/>
        </p:nvSpPr>
        <p:spPr>
          <a:xfrm>
            <a:off x="1438275" y="2181225"/>
            <a:ext cx="42767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文字与语音，同一个入口</a:t>
            </a:r>
            <a:endParaRPr sz="2175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0" name="b-说出或输入目标；补充"/>
          <p:cNvSpPr>
            <a:spLocks noGrp="1"/>
          </p:cNvSpPr>
          <p:nvPr/>
        </p:nvSpPr>
        <p:spPr>
          <a:xfrm>
            <a:off x="1438275" y="2657475"/>
            <a:ext cx="42767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说出或输入目标；补充要求也进入当前任务，不必重新描述整个过程。</a:t>
            </a:r>
            <a:endParaRPr sz="1875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11" name="num-02"/>
          <p:cNvSpPr>
            <a:spLocks noGrp="1"/>
          </p:cNvSpPr>
          <p:nvPr/>
        </p:nvSpPr>
        <p:spPr>
          <a:xfrm>
            <a:off x="666750" y="4695825"/>
            <a:ext cx="6286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02</a:t>
            </a:r>
            <a:endParaRPr sz="3300" b="1">
              <a:solidFill>
                <a:srgbClr val="94B6D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2" name="h-进度可听，也可读"/>
          <p:cNvSpPr>
            <a:spLocks noGrp="1"/>
          </p:cNvSpPr>
          <p:nvPr/>
        </p:nvSpPr>
        <p:spPr>
          <a:xfrm>
            <a:off x="1438275" y="4714875"/>
            <a:ext cx="42767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进度可听，也可读</a:t>
            </a:r>
            <a:endParaRPr sz="2175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3" name="b-关键结果播报；完整文"/>
          <p:cNvSpPr>
            <a:spLocks noGrp="1"/>
          </p:cNvSpPr>
          <p:nvPr/>
        </p:nvSpPr>
        <p:spPr>
          <a:xfrm>
            <a:off x="1438275" y="5191125"/>
            <a:ext cx="42767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关键结果播报；完整文字保留在任务页，系统旁白可以访问。</a:t>
            </a:r>
            <a:endParaRPr sz="1875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14" name="num-03"/>
          <p:cNvSpPr>
            <a:spLocks noGrp="1"/>
          </p:cNvSpPr>
          <p:nvPr/>
        </p:nvSpPr>
        <p:spPr>
          <a:xfrm>
            <a:off x="9744075" y="2162175"/>
            <a:ext cx="6286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03</a:t>
            </a:r>
            <a:endParaRPr sz="3300" b="1">
              <a:solidFill>
                <a:srgbClr val="94B6D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5" name="h-关键操作先确认"/>
          <p:cNvSpPr>
            <a:spLocks noGrp="1"/>
          </p:cNvSpPr>
          <p:nvPr/>
        </p:nvSpPr>
        <p:spPr>
          <a:xfrm>
            <a:off x="10515600" y="2181225"/>
            <a:ext cx="40862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关键操作先确认</a:t>
            </a:r>
            <a:endParaRPr sz="2175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6" name="b-在手机查看实际画面及"/>
          <p:cNvSpPr>
            <a:spLocks noGrp="1"/>
          </p:cNvSpPr>
          <p:nvPr/>
        </p:nvSpPr>
        <p:spPr>
          <a:xfrm>
            <a:off x="10515600" y="2657475"/>
            <a:ext cx="40862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在手机查看实际画面及操作内容，审批后由电脑继续执行。</a:t>
            </a:r>
            <a:endParaRPr sz="1875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17" name="num-04"/>
          <p:cNvSpPr>
            <a:spLocks noGrp="1"/>
          </p:cNvSpPr>
          <p:nvPr/>
        </p:nvSpPr>
        <p:spPr>
          <a:xfrm>
            <a:off x="9744075" y="4695825"/>
            <a:ext cx="6286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04</a:t>
            </a:r>
            <a:endParaRPr sz="3300" b="1">
              <a:solidFill>
                <a:srgbClr val="94B6D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8" name="h-让界面适应使用者"/>
          <p:cNvSpPr>
            <a:spLocks noGrp="1"/>
          </p:cNvSpPr>
          <p:nvPr/>
        </p:nvSpPr>
        <p:spPr>
          <a:xfrm>
            <a:off x="10515600" y="4714875"/>
            <a:ext cx="40862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让界面适应使用者</a:t>
            </a:r>
            <a:endParaRPr sz="2175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9" name="b-大字、高对比度、减少"/>
          <p:cNvSpPr>
            <a:spLocks noGrp="1"/>
          </p:cNvSpPr>
          <p:nvPr/>
        </p:nvSpPr>
        <p:spPr>
          <a:xfrm>
            <a:off x="10515600" y="5191125"/>
            <a:ext cx="40862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大字、高对比度、减少动画；回答详略与补充偏好随新任务进入上下文。</a:t>
            </a:r>
            <a:endParaRPr sz="1875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20" name="access-rule"/>
          <p:cNvSpPr>
            <a:spLocks noGrp="1"/>
          </p:cNvSpPr>
          <p:nvPr/>
        </p:nvSpPr>
        <p:spPr>
          <a:xfrm>
            <a:off x="695325" y="7315200"/>
            <a:ext cx="13906500" cy="13335"/>
          </a:xfrm>
          <a:prstGeom prst="rect">
            <a:avLst/>
          </a:prstGeom>
          <a:solidFill>
            <a:srgbClr val="B8CCE2"/>
          </a:solidFill>
          <a:ln w="0">
            <a:noFill/>
          </a:ln>
        </p:spPr>
      </p:sp>
      <p:sp>
        <p:nvSpPr>
          <p:cNvPr id="21" name="access-summary"/>
          <p:cNvSpPr>
            <a:spLocks noGrp="1"/>
          </p:cNvSpPr>
          <p:nvPr/>
        </p:nvSpPr>
        <p:spPr>
          <a:xfrm>
            <a:off x="762000" y="7477125"/>
            <a:ext cx="13716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ctr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ctr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ctr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ctr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ctr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ctr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ctr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ctr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ctr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ctr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读屏适配：控件名称与分组  ·  焦点反馈  ·  状态消息  ·  完整可读文本</a:t>
            </a:r>
            <a:endParaRPr sz="2025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section"/>
          <p:cNvSpPr>
            <a:spLocks noGrp="1"/>
          </p:cNvSpPr>
          <p:nvPr/>
        </p:nvSpPr>
        <p:spPr>
          <a:xfrm>
            <a:off x="619125" y="314325"/>
            <a:ext cx="12668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02 自主核心技术</a:t>
            </a:r>
            <a:endParaRPr sz="1350" b="0">
              <a:solidFill>
                <a:srgbClr val="516278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2" name="heading"/>
          <p:cNvSpPr>
            <a:spLocks noGrp="1"/>
          </p:cNvSpPr>
          <p:nvPr/>
        </p:nvSpPr>
        <p:spPr>
          <a:xfrm>
            <a:off x="619125" y="762000"/>
            <a:ext cx="1400175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defPPr>
            <a:lvl1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1pPr>
            <a:lvl2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2pPr>
            <a:lvl3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3pPr>
            <a:lvl4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4pPr>
            <a:lvl5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5pPr>
            <a:lvl6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6pPr>
            <a:lvl7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7pPr>
            <a:lvl8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8pPr>
            <a:lvl9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9pPr>
          </a:lstStyle>
          <a:p>
            <a: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pPr>
            <a:r>
              <a: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rPr>
              <a:t>Computer Harness总体架构</a:t>
            </a:r>
            <a:endParaRPr sz="3450" b="1">
              <a:solidFill>
                <a:srgbClr val="073570"/>
              </a:solidFill>
              <a:latin typeface="STSong" panose="02010600040101010101" charset="-122"/>
              <a:ea typeface="STSong" panose="02010600040101010101" charset="-122"/>
              <a:cs typeface="STSong" panose="02010600040101010101" charset="-122"/>
            </a:endParaRPr>
          </a:p>
        </p:txBody>
      </p:sp>
      <p:sp>
        <p:nvSpPr>
          <p:cNvPr id="3" name="head-rule"/>
          <p:cNvSpPr>
            <a:spLocks noGrp="1"/>
          </p:cNvSpPr>
          <p:nvPr/>
        </p:nvSpPr>
        <p:spPr>
          <a:xfrm>
            <a:off x="619125" y="1619250"/>
            <a:ext cx="14001750" cy="13335"/>
          </a:xfrm>
          <a:prstGeom prst="rect">
            <a:avLst/>
          </a:prstGeom>
          <a:solidFill>
            <a:srgbClr val="B7CDE1"/>
          </a:solidFill>
          <a:ln w="0">
            <a:noFill/>
          </a:ln>
        </p:spPr>
      </p:sp>
      <p:sp>
        <p:nvSpPr>
          <p:cNvPr id="4" name="brand"/>
          <p:cNvSpPr>
            <a:spLocks noGrp="1"/>
          </p:cNvSpPr>
          <p:nvPr/>
        </p:nvSpPr>
        <p:spPr>
          <a:xfrm>
            <a:off x="619125" y="8124825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光语者  /  Lightspeaker</a:t>
            </a:r>
            <a:endParaRPr sz="1275" b="0">
              <a:solidFill>
                <a:srgbClr val="516278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5" name="page"/>
          <p:cNvSpPr>
            <a:spLocks noGrp="1"/>
          </p:cNvSpPr>
          <p:nvPr/>
        </p:nvSpPr>
        <p:spPr>
          <a:xfrm>
            <a:off x="14049375" y="80867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05</a:t>
            </a:r>
            <a:endParaRPr sz="1575" b="1">
              <a:solidFill>
                <a:srgbClr val="07357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nav-to-2">
            <a:hlinkClick r:id="rId1" action="ppaction://hlinksldjump"/>
          </p:cNvPr>
          <p:cNvSpPr>
            <a:spLocks noGrp="1"/>
          </p:cNvSpPr>
          <p:nvPr/>
        </p:nvSpPr>
        <p:spPr>
          <a:xfrm>
            <a:off x="13192125" y="8105775"/>
            <a:ext cx="6191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目录</a:t>
            </a:r>
            <a:endParaRPr sz="1350" b="0">
              <a:solidFill>
                <a:srgbClr val="516278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7" name="user"/>
          <p:cNvSpPr>
            <a:spLocks noGrp="1"/>
          </p:cNvSpPr>
          <p:nvPr/>
        </p:nvSpPr>
        <p:spPr>
          <a:xfrm>
            <a:off x="1000125" y="2105025"/>
            <a:ext cx="8524875" cy="628650"/>
          </a:xfrm>
          <a:prstGeom prst="rect">
            <a:avLst/>
          </a:prstGeom>
          <a:solidFill>
            <a:srgbClr val="FFFFFF"/>
          </a:solidFill>
          <a:ln w="16193">
            <a:solidFill>
              <a:srgbClr val="252C35"/>
            </a:solidFill>
          </a:ln>
        </p:spPr>
      </p:sp>
      <p:sp>
        <p:nvSpPr>
          <p:cNvPr id="8" name="user-text"/>
          <p:cNvSpPr>
            <a:spLocks noGrp="1"/>
          </p:cNvSpPr>
          <p:nvPr/>
        </p:nvSpPr>
        <p:spPr>
          <a:xfrm>
            <a:off x="1114425" y="2219325"/>
            <a:ext cx="829627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手机控制面：目标 / 纠正 / 审批 / 暂停</a:t>
            </a:r>
            <a:endParaRPr sz="1875" b="0">
              <a:solidFill>
                <a:srgbClr val="252C35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9" name="u-to-r"/>
          <p:cNvCxnSpPr/>
          <p:nvPr/>
        </p:nvCxnSpPr>
        <p:spPr>
          <a:xfrm>
            <a:off x="5267325" y="2743200"/>
            <a:ext cx="0" cy="400050"/>
          </a:xfrm>
          <a:prstGeom prst="straightConnector1">
            <a:avLst/>
          </a:prstGeom>
          <a:ln w="20955">
            <a:solidFill>
              <a:srgbClr val="252C35"/>
            </a:solidFill>
            <a:tailEnd type="triangle" w="sm" len="sm"/>
          </a:ln>
        </p:spPr>
      </p:cxnSp>
      <p:sp>
        <p:nvSpPr>
          <p:cNvPr id="10" name="runtime-scope"/>
          <p:cNvSpPr>
            <a:spLocks noGrp="1"/>
          </p:cNvSpPr>
          <p:nvPr/>
        </p:nvSpPr>
        <p:spPr>
          <a:xfrm>
            <a:off x="1000125" y="3162300"/>
            <a:ext cx="8524875" cy="2952750"/>
          </a:xfrm>
          <a:prstGeom prst="rect">
            <a:avLst/>
          </a:prstGeom>
          <a:solidFill>
            <a:srgbClr val="F9FAFB"/>
          </a:solidFill>
          <a:ln w="17145">
            <a:solidFill>
              <a:srgbClr val="252C35"/>
            </a:solidFill>
          </a:ln>
        </p:spPr>
      </p:sp>
      <p:sp>
        <p:nvSpPr>
          <p:cNvPr id="11" name="scope"/>
          <p:cNvSpPr>
            <a:spLocks noGrp="1"/>
          </p:cNvSpPr>
          <p:nvPr/>
        </p:nvSpPr>
        <p:spPr>
          <a:xfrm>
            <a:off x="1200150" y="3267075"/>
            <a:ext cx="8096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202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Computer Harness · 专为 Computer-use 构建</a:t>
            </a:r>
          </a:p>
        </p:txBody>
      </p:sp>
      <p:sp>
        <p:nvSpPr>
          <p:cNvPr id="12" name="ctx"/>
          <p:cNvSpPr>
            <a:spLocks noGrp="1"/>
          </p:cNvSpPr>
          <p:nvPr/>
        </p:nvSpPr>
        <p:spPr>
          <a:xfrm>
            <a:off x="1285875" y="3705225"/>
            <a:ext cx="2286000" cy="1304925"/>
          </a:xfrm>
          <a:prstGeom prst="rect">
            <a:avLst/>
          </a:prstGeom>
          <a:solidFill>
            <a:srgbClr val="FFFFFF"/>
          </a:solidFill>
          <a:ln w="16193">
            <a:solidFill>
              <a:srgbClr val="252C35"/>
            </a:solidFill>
          </a:ln>
        </p:spPr>
      </p:sp>
      <p:sp>
        <p:nvSpPr>
          <p:cNvPr id="13" name="ctx-text"/>
          <p:cNvSpPr>
            <a:spLocks noGrp="1"/>
          </p:cNvSpPr>
          <p:nvPr/>
        </p:nvSpPr>
        <p:spPr>
          <a:xfrm>
            <a:off x="1400175" y="3819525"/>
            <a:ext cx="2057400" cy="1114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上下文编译</a:t>
            </a:r>
            <a:endParaRPr sz="1875" b="0">
              <a:solidFill>
                <a:srgbClr val="252C35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目标与当前观察</a:t>
            </a:r>
            <a:endParaRPr sz="1875" b="0">
              <a:solidFill>
                <a:srgbClr val="252C35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历史、计划、记忆</a:t>
            </a:r>
            <a:endParaRPr sz="1875" b="0">
              <a:solidFill>
                <a:srgbClr val="252C35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provider"/>
          <p:cNvSpPr>
            <a:spLocks noGrp="1"/>
          </p:cNvSpPr>
          <p:nvPr/>
        </p:nvSpPr>
        <p:spPr>
          <a:xfrm>
            <a:off x="4114800" y="3705225"/>
            <a:ext cx="2286000" cy="1304925"/>
          </a:xfrm>
          <a:prstGeom prst="rect">
            <a:avLst/>
          </a:prstGeom>
          <a:solidFill>
            <a:srgbClr val="FFFFFF"/>
          </a:solidFill>
          <a:ln w="16193">
            <a:solidFill>
              <a:srgbClr val="252C35"/>
            </a:solidFill>
          </a:ln>
        </p:spPr>
      </p:sp>
      <p:sp>
        <p:nvSpPr>
          <p:cNvPr id="15" name="provider-text"/>
          <p:cNvSpPr>
            <a:spLocks noGrp="1"/>
          </p:cNvSpPr>
          <p:nvPr/>
        </p:nvSpPr>
        <p:spPr>
          <a:xfrm>
            <a:off x="4229100" y="3819525"/>
            <a:ext cx="2057400" cy="1114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模型适配层</a:t>
            </a:r>
            <a:endParaRPr sz="1875" b="0">
              <a:solidFill>
                <a:srgbClr val="252C35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调用模型服务</a:t>
            </a:r>
            <a:endParaRPr sz="1875" b="0">
              <a:solidFill>
                <a:srgbClr val="252C35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返回动作与评估</a:t>
            </a:r>
            <a:endParaRPr sz="1875" b="0">
              <a:solidFill>
                <a:srgbClr val="252C35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6" name="sched"/>
          <p:cNvSpPr>
            <a:spLocks noGrp="1"/>
          </p:cNvSpPr>
          <p:nvPr/>
        </p:nvSpPr>
        <p:spPr>
          <a:xfrm>
            <a:off x="6943725" y="3705225"/>
            <a:ext cx="2286000" cy="1304925"/>
          </a:xfrm>
          <a:prstGeom prst="rect">
            <a:avLst/>
          </a:prstGeom>
          <a:solidFill>
            <a:srgbClr val="FFFFFF"/>
          </a:solidFill>
          <a:ln w="16193">
            <a:solidFill>
              <a:srgbClr val="252C35"/>
            </a:solidFill>
          </a:ln>
        </p:spPr>
      </p:sp>
      <p:sp>
        <p:nvSpPr>
          <p:cNvPr id="17" name="sched-text"/>
          <p:cNvSpPr>
            <a:spLocks noGrp="1"/>
          </p:cNvSpPr>
          <p:nvPr/>
        </p:nvSpPr>
        <p:spPr>
          <a:xfrm>
            <a:off x="7058025" y="3819525"/>
            <a:ext cx="2057400" cy="1114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执行调度</a:t>
            </a:r>
            <a:endParaRPr sz="1875" b="0">
              <a:solidFill>
                <a:srgbClr val="252C35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授权、引用、纠正</a:t>
            </a:r>
            <a:endParaRPr sz="1875" b="0">
              <a:solidFill>
                <a:srgbClr val="252C35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派发与回执</a:t>
            </a:r>
            <a:endParaRPr sz="1875" b="0">
              <a:solidFill>
                <a:srgbClr val="252C35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8" name="ctx-model"/>
          <p:cNvCxnSpPr/>
          <p:nvPr/>
        </p:nvCxnSpPr>
        <p:spPr>
          <a:xfrm>
            <a:off x="3590925" y="4352925"/>
            <a:ext cx="495300" cy="0"/>
          </a:xfrm>
          <a:prstGeom prst="straightConnector1">
            <a:avLst/>
          </a:prstGeom>
          <a:ln w="20955">
            <a:solidFill>
              <a:srgbClr val="252C35"/>
            </a:solidFill>
            <a:tailEnd type="triangle" w="sm" len="sm"/>
          </a:ln>
        </p:spPr>
      </p:cxnSp>
      <p:cxnSp>
        <p:nvCxnSpPr>
          <p:cNvPr id="19" name="model-sched"/>
          <p:cNvCxnSpPr/>
          <p:nvPr/>
        </p:nvCxnSpPr>
        <p:spPr>
          <a:xfrm>
            <a:off x="6419850" y="4352925"/>
            <a:ext cx="495300" cy="0"/>
          </a:xfrm>
          <a:prstGeom prst="straightConnector1">
            <a:avLst/>
          </a:prstGeom>
          <a:ln w="20955">
            <a:solidFill>
              <a:srgbClr val="252C35"/>
            </a:solidFill>
            <a:tailEnd type="triangle" w="sm" len="sm"/>
          </a:ln>
        </p:spPr>
      </p:cxnSp>
      <p:sp>
        <p:nvSpPr>
          <p:cNvPr id="20" name="events"/>
          <p:cNvSpPr>
            <a:spLocks noGrp="1"/>
          </p:cNvSpPr>
          <p:nvPr/>
        </p:nvSpPr>
        <p:spPr>
          <a:xfrm>
            <a:off x="1285875" y="5334000"/>
            <a:ext cx="7953375" cy="619125"/>
          </a:xfrm>
          <a:prstGeom prst="rect">
            <a:avLst/>
          </a:prstGeom>
          <a:solidFill>
            <a:srgbClr val="FFFFFF"/>
          </a:solidFill>
          <a:ln w="16193">
            <a:solidFill>
              <a:srgbClr val="252C35"/>
            </a:solidFill>
          </a:ln>
        </p:spPr>
      </p:sp>
      <p:sp>
        <p:nvSpPr>
          <p:cNvPr id="21" name="events-text"/>
          <p:cNvSpPr>
            <a:spLocks noGrp="1"/>
          </p:cNvSpPr>
          <p:nvPr/>
        </p:nvSpPr>
        <p:spPr>
          <a:xfrm>
            <a:off x="1400175" y="5448300"/>
            <a:ext cx="77247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统一事件轨迹：</a:t>
            </a:r>
            <a:r>
              <a:rPr lang="zh-CN" altLang="en-US"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当前画面 → 模型指令 → 实际操作 → 执行反馈 → 操作后画面</a:t>
            </a:r>
            <a:endParaRPr lang="zh-CN" altLang="en-US" sz="1875" b="0">
              <a:solidFill>
                <a:srgbClr val="252C35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2" name="e1"/>
          <p:cNvSpPr>
            <a:spLocks noGrp="1"/>
          </p:cNvSpPr>
          <p:nvPr/>
        </p:nvSpPr>
        <p:spPr>
          <a:xfrm>
            <a:off x="2428875" y="5010150"/>
            <a:ext cx="13335" cy="314325"/>
          </a:xfrm>
          <a:prstGeom prst="rect">
            <a:avLst/>
          </a:prstGeom>
          <a:solidFill>
            <a:srgbClr val="252C35"/>
          </a:solidFill>
          <a:ln w="0">
            <a:noFill/>
          </a:ln>
        </p:spPr>
      </p:sp>
      <p:sp>
        <p:nvSpPr>
          <p:cNvPr id="23" name="e2"/>
          <p:cNvSpPr>
            <a:spLocks noGrp="1"/>
          </p:cNvSpPr>
          <p:nvPr/>
        </p:nvSpPr>
        <p:spPr>
          <a:xfrm>
            <a:off x="8086725" y="5010150"/>
            <a:ext cx="13335" cy="314325"/>
          </a:xfrm>
          <a:prstGeom prst="rect">
            <a:avLst/>
          </a:prstGeom>
          <a:solidFill>
            <a:srgbClr val="252C35"/>
          </a:solidFill>
          <a:ln w="0">
            <a:noFill/>
          </a:ln>
        </p:spPr>
      </p:sp>
      <p:sp>
        <p:nvSpPr>
          <p:cNvPr id="24" name="driver"/>
          <p:cNvSpPr>
            <a:spLocks noGrp="1"/>
          </p:cNvSpPr>
          <p:nvPr/>
        </p:nvSpPr>
        <p:spPr>
          <a:xfrm>
            <a:off x="1000125" y="6638925"/>
            <a:ext cx="8524875" cy="666750"/>
          </a:xfrm>
          <a:prstGeom prst="rect">
            <a:avLst/>
          </a:prstGeom>
          <a:solidFill>
            <a:srgbClr val="FFFFFF"/>
          </a:solidFill>
          <a:ln w="16193">
            <a:solidFill>
              <a:srgbClr val="252C35"/>
            </a:solidFill>
          </a:ln>
        </p:spPr>
      </p:sp>
      <p:sp>
        <p:nvSpPr>
          <p:cNvPr id="25" name="driver-text"/>
          <p:cNvSpPr>
            <a:spLocks noGrp="1"/>
          </p:cNvSpPr>
          <p:nvPr/>
        </p:nvSpPr>
        <p:spPr>
          <a:xfrm>
            <a:off x="1114425" y="6753225"/>
            <a:ext cx="829627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950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Computer接口 → Windows / macOS适配 → 开源 CUA</a:t>
            </a:r>
          </a:p>
        </p:txBody>
      </p:sp>
      <p:cxnSp>
        <p:nvCxnSpPr>
          <p:cNvPr id="26" name="r-d"/>
          <p:cNvCxnSpPr/>
          <p:nvPr/>
        </p:nvCxnSpPr>
        <p:spPr>
          <a:xfrm>
            <a:off x="5267325" y="6124575"/>
            <a:ext cx="0" cy="495300"/>
          </a:xfrm>
          <a:prstGeom prst="straightConnector1">
            <a:avLst/>
          </a:prstGeom>
          <a:ln w="20955">
            <a:solidFill>
              <a:srgbClr val="252C35"/>
            </a:solidFill>
            <a:tailEnd type="triangle" w="sm" len="sm"/>
          </a:ln>
        </p:spPr>
      </p:cxnSp>
      <p:sp>
        <p:nvSpPr>
          <p:cNvPr id="27" name="h-三个明确分工"/>
          <p:cNvSpPr>
            <a:spLocks noGrp="1"/>
          </p:cNvSpPr>
          <p:nvPr/>
        </p:nvSpPr>
        <p:spPr>
          <a:xfrm>
            <a:off x="10287000" y="2171700"/>
            <a:ext cx="43815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三个明确分工</a:t>
            </a:r>
            <a:endParaRPr sz="2400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8" name="num-1"/>
          <p:cNvSpPr>
            <a:spLocks noGrp="1"/>
          </p:cNvSpPr>
          <p:nvPr/>
        </p:nvSpPr>
        <p:spPr>
          <a:xfrm>
            <a:off x="10229850" y="2857500"/>
            <a:ext cx="6286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</a:t>
            </a:r>
            <a:endParaRPr sz="3300" b="1">
              <a:solidFill>
                <a:srgbClr val="94B6D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9" name="h-模型：提出动作"/>
          <p:cNvSpPr>
            <a:spLocks noGrp="1"/>
          </p:cNvSpPr>
          <p:nvPr/>
        </p:nvSpPr>
        <p:spPr>
          <a:xfrm>
            <a:off x="11001375" y="2876550"/>
            <a:ext cx="360997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模型：提出动作</a:t>
            </a:r>
            <a:endParaRPr sz="2175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0" name="b-理解目标和截图，返回"/>
          <p:cNvSpPr>
            <a:spLocks noGrp="1"/>
          </p:cNvSpPr>
          <p:nvPr/>
        </p:nvSpPr>
        <p:spPr>
          <a:xfrm>
            <a:off x="11001375" y="3352800"/>
            <a:ext cx="360997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理解目标和截图，返回下一步工具调用与前一步状态判断。</a:t>
            </a:r>
            <a:endParaRPr sz="1875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31" name="num-2"/>
          <p:cNvSpPr>
            <a:spLocks noGrp="1"/>
          </p:cNvSpPr>
          <p:nvPr/>
        </p:nvSpPr>
        <p:spPr>
          <a:xfrm>
            <a:off x="10229850" y="4476750"/>
            <a:ext cx="6286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</a:t>
            </a:r>
            <a:endParaRPr sz="3300" b="1">
              <a:solidFill>
                <a:srgbClr val="94B6D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2" name="h-Harness：组织执行"/>
          <p:cNvSpPr>
            <a:spLocks noGrp="1"/>
          </p:cNvSpPr>
          <p:nvPr/>
        </p:nvSpPr>
        <p:spPr>
          <a:xfrm>
            <a:off x="11001375" y="4495800"/>
            <a:ext cx="360997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Harness：组织执行</a:t>
            </a:r>
            <a:endParaRPr sz="2175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3" name="b-保留任务连续状态，编"/>
          <p:cNvSpPr>
            <a:spLocks noGrp="1"/>
          </p:cNvSpPr>
          <p:nvPr/>
        </p:nvSpPr>
        <p:spPr>
          <a:xfrm>
            <a:off x="11001375" y="4972050"/>
            <a:ext cx="360997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保留任务连续状态，编译模型输入，在执行边界处理审批与纠正。</a:t>
            </a:r>
            <a:endParaRPr sz="1875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34" name="num-3"/>
          <p:cNvSpPr>
            <a:spLocks noGrp="1"/>
          </p:cNvSpPr>
          <p:nvPr/>
        </p:nvSpPr>
        <p:spPr>
          <a:xfrm>
            <a:off x="10229850" y="6096000"/>
            <a:ext cx="6286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sz="3300" b="1">
              <a:solidFill>
                <a:srgbClr val="94B6D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5" name="h-CUA：操作桌面"/>
          <p:cNvSpPr>
            <a:spLocks noGrp="1"/>
          </p:cNvSpPr>
          <p:nvPr/>
        </p:nvSpPr>
        <p:spPr>
          <a:xfrm>
            <a:off x="11001375" y="6115050"/>
            <a:ext cx="360997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开源 CUA：桌面操作</a:t>
            </a:r>
          </a:p>
        </p:txBody>
      </p:sp>
      <p:sp>
        <p:nvSpPr>
          <p:cNvPr id="36" name="b-提供截图、输入及窗口"/>
          <p:cNvSpPr>
            <a:spLocks noGrp="1"/>
          </p:cNvSpPr>
          <p:nvPr/>
        </p:nvSpPr>
        <p:spPr>
          <a:xfrm>
            <a:off x="11001375" y="6591300"/>
            <a:ext cx="360997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复用开源截图、输入与窗口能力；平台差异由适配层处理。</a:t>
            </a:r>
          </a:p>
        </p:txBody>
      </p:sp>
      <p:sp>
        <p:nvSpPr>
          <p:cNvPr id="37" name="figcap-图1  用户控制、决策信息与桌面执行在同一个 Run 中协同"/>
          <p:cNvSpPr>
            <a:spLocks noGrp="1"/>
          </p:cNvSpPr>
          <p:nvPr/>
        </p:nvSpPr>
        <p:spPr>
          <a:xfrm>
            <a:off x="1000125" y="7515225"/>
            <a:ext cx="85248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ctr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ctr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ctr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ctr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ctr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ctr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ctr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ctr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ctr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ctr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图1  用户控制、决策信息与桌面执行在同一个 Run 中协同</a:t>
            </a:r>
            <a:endParaRPr sz="1575" b="0">
              <a:solidFill>
                <a:srgbClr val="687581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section"/>
          <p:cNvSpPr>
            <a:spLocks noGrp="1"/>
          </p:cNvSpPr>
          <p:nvPr/>
        </p:nvSpPr>
        <p:spPr>
          <a:xfrm>
            <a:off x="619125" y="314325"/>
            <a:ext cx="12668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系统设计 · 观察与目标</a:t>
            </a:r>
            <a:endParaRPr sz="1350" b="0">
              <a:solidFill>
                <a:srgbClr val="516278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2" name="heading"/>
          <p:cNvSpPr>
            <a:spLocks noGrp="1"/>
          </p:cNvSpPr>
          <p:nvPr/>
        </p:nvSpPr>
        <p:spPr>
          <a:xfrm>
            <a:off x="619125" y="762000"/>
            <a:ext cx="1400175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defPPr>
            <a:lvl1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1pPr>
            <a:lvl2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2pPr>
            <a:lvl3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3pPr>
            <a:lvl4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4pPr>
            <a:lvl5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5pPr>
            <a:lvl6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6pPr>
            <a:lvl7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7pPr>
            <a:lvl8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8pPr>
            <a:lvl9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9pPr>
          </a:lstStyle>
          <a:p>
            <a: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pPr>
            <a:r>
              <a: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rPr>
              <a:t>多模态观察与跨应用定位</a:t>
            </a:r>
            <a:endParaRPr sz="3450" b="1">
              <a:solidFill>
                <a:srgbClr val="073570"/>
              </a:solidFill>
              <a:latin typeface="STSong" panose="02010600040101010101" charset="-122"/>
              <a:ea typeface="STSong" panose="02010600040101010101" charset="-122"/>
              <a:cs typeface="STSong" panose="02010600040101010101" charset="-122"/>
            </a:endParaRPr>
          </a:p>
        </p:txBody>
      </p:sp>
      <p:sp>
        <p:nvSpPr>
          <p:cNvPr id="3" name="head-rule"/>
          <p:cNvSpPr>
            <a:spLocks noGrp="1"/>
          </p:cNvSpPr>
          <p:nvPr/>
        </p:nvSpPr>
        <p:spPr>
          <a:xfrm>
            <a:off x="619125" y="1619250"/>
            <a:ext cx="14001750" cy="13335"/>
          </a:xfrm>
          <a:prstGeom prst="rect">
            <a:avLst/>
          </a:prstGeom>
          <a:solidFill>
            <a:srgbClr val="B7CDE1"/>
          </a:solidFill>
          <a:ln w="0">
            <a:noFill/>
          </a:ln>
        </p:spPr>
      </p:sp>
      <p:sp>
        <p:nvSpPr>
          <p:cNvPr id="4" name="brand"/>
          <p:cNvSpPr>
            <a:spLocks noGrp="1"/>
          </p:cNvSpPr>
          <p:nvPr/>
        </p:nvSpPr>
        <p:spPr>
          <a:xfrm>
            <a:off x="619125" y="8124825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光语者  /  Lightspeaker</a:t>
            </a:r>
            <a:endParaRPr sz="1275" b="0">
              <a:solidFill>
                <a:srgbClr val="516278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5" name="page"/>
          <p:cNvSpPr>
            <a:spLocks noGrp="1"/>
          </p:cNvSpPr>
          <p:nvPr/>
        </p:nvSpPr>
        <p:spPr>
          <a:xfrm>
            <a:off x="14049375" y="80867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06</a:t>
            </a:r>
            <a:endParaRPr sz="1575" b="1">
              <a:solidFill>
                <a:srgbClr val="07357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nav-to-2">
            <a:hlinkClick r:id="rId1" action="ppaction://hlinksldjump"/>
          </p:cNvPr>
          <p:cNvSpPr>
            <a:spLocks noGrp="1"/>
          </p:cNvSpPr>
          <p:nvPr/>
        </p:nvSpPr>
        <p:spPr>
          <a:xfrm>
            <a:off x="13192125" y="8105775"/>
            <a:ext cx="6191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目录</a:t>
            </a:r>
            <a:endParaRPr sz="1350" b="0">
              <a:solidFill>
                <a:srgbClr val="516278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7" name="h-候选控件组织"/>
          <p:cNvSpPr>
            <a:spLocks noGrp="1"/>
          </p:cNvSpPr>
          <p:nvPr/>
        </p:nvSpPr>
        <p:spPr>
          <a:xfrm>
            <a:off x="752475" y="2143125"/>
            <a:ext cx="6477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候选控件组织</a:t>
            </a:r>
            <a:endParaRPr sz="2325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8" name="sources"/>
          <p:cNvSpPr>
            <a:spLocks noGrp="1"/>
          </p:cNvSpPr>
          <p:nvPr/>
        </p:nvSpPr>
        <p:spPr>
          <a:xfrm>
            <a:off x="762000" y="2800350"/>
            <a:ext cx="6248400" cy="609600"/>
          </a:xfrm>
          <a:prstGeom prst="rect">
            <a:avLst/>
          </a:prstGeom>
          <a:solidFill>
            <a:srgbClr val="FFFFFF"/>
          </a:solidFill>
          <a:ln w="16193">
            <a:solidFill>
              <a:srgbClr val="252C35"/>
            </a:solidFill>
          </a:ln>
        </p:spPr>
      </p:sp>
      <p:sp>
        <p:nvSpPr>
          <p:cNvPr id="9" name="sources-text"/>
          <p:cNvSpPr>
            <a:spLocks noGrp="1"/>
          </p:cNvSpPr>
          <p:nvPr/>
        </p:nvSpPr>
        <p:spPr>
          <a:xfrm>
            <a:off x="876300" y="2914650"/>
            <a:ext cx="60198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结构候选：可选UIA / AX / DOM</a:t>
            </a:r>
            <a:endParaRPr sz="1875" b="0">
              <a:solidFill>
                <a:srgbClr val="252C35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0" name="o1"/>
          <p:cNvCxnSpPr/>
          <p:nvPr/>
        </p:nvCxnSpPr>
        <p:spPr>
          <a:xfrm>
            <a:off x="3886200" y="3419475"/>
            <a:ext cx="0" cy="276225"/>
          </a:xfrm>
          <a:prstGeom prst="straightConnector1">
            <a:avLst/>
          </a:prstGeom>
          <a:ln w="20955">
            <a:solidFill>
              <a:srgbClr val="252C35"/>
            </a:solidFill>
            <a:tailEnd type="triangle" w="sm" len="sm"/>
          </a:ln>
        </p:spPr>
      </p:cxnSp>
      <p:sp>
        <p:nvSpPr>
          <p:cNvPr id="11" name="dedupe"/>
          <p:cNvSpPr>
            <a:spLocks noGrp="1"/>
          </p:cNvSpPr>
          <p:nvPr/>
        </p:nvSpPr>
        <p:spPr>
          <a:xfrm>
            <a:off x="762000" y="3714750"/>
            <a:ext cx="6248400" cy="609600"/>
          </a:xfrm>
          <a:prstGeom prst="rect">
            <a:avLst/>
          </a:prstGeom>
          <a:solidFill>
            <a:srgbClr val="FFFFFF"/>
          </a:solidFill>
          <a:ln w="16193">
            <a:solidFill>
              <a:srgbClr val="252C35"/>
            </a:solidFill>
          </a:ln>
        </p:spPr>
      </p:sp>
      <p:sp>
        <p:nvSpPr>
          <p:cNvPr id="12" name="dedupe-text"/>
          <p:cNvSpPr>
            <a:spLocks noGrp="1"/>
          </p:cNvSpPr>
          <p:nvPr/>
        </p:nvSpPr>
        <p:spPr>
          <a:xfrm>
            <a:off x="876300" y="3829050"/>
            <a:ext cx="60198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按角色、名称、几何重叠合并候选</a:t>
            </a:r>
            <a:endParaRPr sz="1875" b="0">
              <a:solidFill>
                <a:srgbClr val="252C35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3" name="o2"/>
          <p:cNvCxnSpPr/>
          <p:nvPr/>
        </p:nvCxnSpPr>
        <p:spPr>
          <a:xfrm>
            <a:off x="3886200" y="4333875"/>
            <a:ext cx="0" cy="276225"/>
          </a:xfrm>
          <a:prstGeom prst="straightConnector1">
            <a:avLst/>
          </a:prstGeom>
          <a:ln w="20955">
            <a:solidFill>
              <a:srgbClr val="252C35"/>
            </a:solidFill>
            <a:tailEnd type="triangle" w="sm" len="sm"/>
          </a:ln>
        </p:spPr>
      </p:cxnSp>
      <p:sp>
        <p:nvSpPr>
          <p:cNvPr id="14" name="rank"/>
          <p:cNvSpPr>
            <a:spLocks noGrp="1"/>
          </p:cNvSpPr>
          <p:nvPr/>
        </p:nvSpPr>
        <p:spPr>
          <a:xfrm>
            <a:off x="762000" y="4629150"/>
            <a:ext cx="6248400" cy="609600"/>
          </a:xfrm>
          <a:prstGeom prst="rect">
            <a:avLst/>
          </a:prstGeom>
          <a:solidFill>
            <a:srgbClr val="FFFFFF"/>
          </a:solidFill>
          <a:ln w="16193">
            <a:solidFill>
              <a:srgbClr val="252C35"/>
            </a:solidFill>
          </a:ln>
        </p:spPr>
      </p:sp>
      <p:sp>
        <p:nvSpPr>
          <p:cNvPr id="15" name="rank-text"/>
          <p:cNvSpPr>
            <a:spLocks noGrp="1"/>
          </p:cNvSpPr>
          <p:nvPr/>
        </p:nvSpPr>
        <p:spPr>
          <a:xfrm>
            <a:off x="876300" y="4743450"/>
            <a:ext cx="60198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意图与纠正优先，兼顾计划和目标</a:t>
            </a:r>
            <a:endParaRPr sz="1875" b="0">
              <a:solidFill>
                <a:srgbClr val="252C35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6" name="o3"/>
          <p:cNvCxnSpPr/>
          <p:nvPr/>
        </p:nvCxnSpPr>
        <p:spPr>
          <a:xfrm>
            <a:off x="3886200" y="5248275"/>
            <a:ext cx="0" cy="276225"/>
          </a:xfrm>
          <a:prstGeom prst="straightConnector1">
            <a:avLst/>
          </a:prstGeom>
          <a:ln w="20955">
            <a:solidFill>
              <a:srgbClr val="252C35"/>
            </a:solidFill>
            <a:tailEnd type="triangle" w="sm" len="sm"/>
          </a:ln>
        </p:spPr>
      </p:cxnSp>
      <p:sp>
        <p:nvSpPr>
          <p:cNvPr id="17" name="output"/>
          <p:cNvSpPr>
            <a:spLocks noGrp="1"/>
          </p:cNvSpPr>
          <p:nvPr/>
        </p:nvSpPr>
        <p:spPr>
          <a:xfrm>
            <a:off x="762000" y="5543550"/>
            <a:ext cx="6248400" cy="609600"/>
          </a:xfrm>
          <a:prstGeom prst="rect">
            <a:avLst/>
          </a:prstGeom>
          <a:solidFill>
            <a:srgbClr val="FFFFFF"/>
          </a:solidFill>
          <a:ln w="16193">
            <a:solidFill>
              <a:srgbClr val="252C35"/>
            </a:solidFill>
          </a:ln>
        </p:spPr>
      </p:sp>
      <p:sp>
        <p:nvSpPr>
          <p:cNvPr id="18" name="output-text"/>
          <p:cNvSpPr>
            <a:spLocks noGrp="1"/>
          </p:cNvSpPr>
          <p:nvPr/>
        </p:nvSpPr>
        <p:spPr>
          <a:xfrm>
            <a:off x="876300" y="5657850"/>
            <a:ext cx="60198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分组补齐 → 名称、状态、位置及元素引用</a:t>
            </a:r>
            <a:endParaRPr sz="1875" b="0">
              <a:solidFill>
                <a:srgbClr val="252C35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9" name="note-截图作为通用观察"/>
          <p:cNvSpPr>
            <a:spLocks noGrp="1"/>
          </p:cNvSpPr>
          <p:nvPr/>
        </p:nvSpPr>
        <p:spPr>
          <a:xfrm>
            <a:off x="800100" y="6572250"/>
            <a:ext cx="620077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截图作为通用观察基础。结构候选按焦点、可编辑性与恢复区域排序，保留来源及选择理由。</a:t>
            </a:r>
            <a:endParaRPr sz="1650" b="0">
              <a:solidFill>
                <a:srgbClr val="687581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20" name="h-操作对象与坐标空间"/>
          <p:cNvSpPr>
            <a:spLocks noGrp="1"/>
          </p:cNvSpPr>
          <p:nvPr/>
        </p:nvSpPr>
        <p:spPr>
          <a:xfrm>
            <a:off x="7829550" y="2143125"/>
            <a:ext cx="67627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lang="zh-CN" altLang="en-US"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界面变化下的操作保护</a:t>
            </a:r>
            <a:endParaRPr lang="zh-CN" altLang="en-US" sz="2325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1" name="h-任务连续性"/>
          <p:cNvSpPr>
            <a:spLocks noGrp="1"/>
          </p:cNvSpPr>
          <p:nvPr/>
        </p:nvSpPr>
        <p:spPr>
          <a:xfrm>
            <a:off x="7877175" y="2857500"/>
            <a:ext cx="66675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lang="zh-CN" altLang="en-US"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无关窗口出现</a:t>
            </a:r>
            <a:endParaRPr lang="zh-CN" altLang="en-US" sz="2025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2" name="b-任务状态持续保留；S"/>
          <p:cNvSpPr>
            <a:spLocks noGrp="1"/>
          </p:cNvSpPr>
          <p:nvPr/>
        </p:nvSpPr>
        <p:spPr>
          <a:xfrm>
            <a:off x="7886700" y="3276600"/>
            <a:ext cx="6629400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lang="zh-CN" altLang="en-US"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新窗口不会仅因出现就成为操作目标，避免任务被通知窗口或其他应用带偏</a:t>
            </a:r>
            <a:r>
              <a: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。</a:t>
            </a:r>
            <a:endParaRPr sz="1875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23" name="h-跨应用切换"/>
          <p:cNvSpPr>
            <a:spLocks noGrp="1"/>
          </p:cNvSpPr>
          <p:nvPr/>
        </p:nvSpPr>
        <p:spPr>
          <a:xfrm>
            <a:off x="7877175" y="4143375"/>
            <a:ext cx="66675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lang="zh-CN" altLang="en-US"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任务弹窗出现</a:t>
            </a:r>
            <a:endParaRPr lang="zh-CN" altLang="en-US" sz="2025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4" name="b-模型显式选择窗口，激"/>
          <p:cNvSpPr>
            <a:spLocks noGrp="1"/>
          </p:cNvSpPr>
          <p:nvPr/>
        </p:nvSpPr>
        <p:spPr>
          <a:xfrm>
            <a:off x="7886700" y="4562475"/>
            <a:ext cx="6629400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lang="zh-CN" altLang="en-US"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处理保存、确认等与当前操作相关的对话框；目标不明确时，让用户确认</a:t>
            </a:r>
            <a:r>
              <a: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。</a:t>
            </a:r>
            <a:endParaRPr sz="1875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25" name="h-已确认子界面"/>
          <p:cNvSpPr>
            <a:spLocks noGrp="1"/>
          </p:cNvSpPr>
          <p:nvPr/>
        </p:nvSpPr>
        <p:spPr>
          <a:xfrm>
            <a:off x="7877175" y="5429250"/>
            <a:ext cx="66675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lang="zh-CN" altLang="en-US"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窗口切换或位置变化</a:t>
            </a:r>
            <a:endParaRPr lang="zh-CN" altLang="en-US" sz="2025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6" name="b-关系证据成立时进入子"/>
          <p:cNvSpPr>
            <a:spLocks noGrp="1"/>
          </p:cNvSpPr>
          <p:nvPr/>
        </p:nvSpPr>
        <p:spPr>
          <a:xfrm>
            <a:off x="7886700" y="5848350"/>
            <a:ext cx="6629400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lang="zh-CN" altLang="en-US"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重新获取画面与控件位置，避免继续使用旧界面的坐标</a:t>
            </a:r>
            <a:r>
              <a: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。</a:t>
            </a:r>
            <a:endParaRPr sz="1875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27" name="o-right-rule"/>
          <p:cNvSpPr>
            <a:spLocks noGrp="1"/>
          </p:cNvSpPr>
          <p:nvPr/>
        </p:nvSpPr>
        <p:spPr>
          <a:xfrm>
            <a:off x="7858125" y="6743700"/>
            <a:ext cx="6667500" cy="13335"/>
          </a:xfrm>
          <a:prstGeom prst="rect">
            <a:avLst/>
          </a:prstGeom>
          <a:solidFill>
            <a:srgbClr val="B8CCE2"/>
          </a:solidFill>
          <a:ln w="0">
            <a:noFill/>
          </a:ln>
        </p:spPr>
      </p:sp>
      <p:sp>
        <p:nvSpPr>
          <p:cNvPr id="28" name="b-元素引用和视觉坐标均"/>
          <p:cNvSpPr>
            <a:spLocks noGrp="1"/>
          </p:cNvSpPr>
          <p:nvPr/>
        </p:nvSpPr>
        <p:spPr>
          <a:xfrm>
            <a:off x="7896225" y="7038975"/>
            <a:ext cx="66103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lang="zh-CN" altLang="en-US"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通过操作对象管理、引用失效检查和重新观察，降低界面变化带来的误操作风险。</a:t>
            </a:r>
            <a:endParaRPr lang="zh-CN" altLang="en-US" sz="1950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section"/>
          <p:cNvSpPr>
            <a:spLocks noGrp="1"/>
          </p:cNvSpPr>
          <p:nvPr/>
        </p:nvSpPr>
        <p:spPr>
          <a:xfrm>
            <a:off x="619125" y="314325"/>
            <a:ext cx="12668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系统设计 · 决策信息</a:t>
            </a:r>
            <a:endParaRPr sz="1350" b="0">
              <a:solidFill>
                <a:srgbClr val="516278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2" name="heading"/>
          <p:cNvSpPr>
            <a:spLocks noGrp="1"/>
          </p:cNvSpPr>
          <p:nvPr/>
        </p:nvSpPr>
        <p:spPr>
          <a:xfrm>
            <a:off x="619125" y="762000"/>
            <a:ext cx="1400175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defPPr>
            <a:lvl1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1pPr>
            <a:lvl2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2pPr>
            <a:lvl3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3pPr>
            <a:lvl4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4pPr>
            <a:lvl5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5pPr>
            <a:lvl6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6pPr>
            <a:lvl7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7pPr>
            <a:lvl8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8pPr>
            <a:lvl9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9pPr>
          </a:lstStyle>
          <a:p>
            <a: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pPr>
            <a:r>
              <a: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rPr>
              <a:t>上下文编译、阶段计划与记忆检索</a:t>
            </a:r>
            <a:endParaRPr sz="3450" b="1">
              <a:solidFill>
                <a:srgbClr val="073570"/>
              </a:solidFill>
              <a:latin typeface="STSong" panose="02010600040101010101" charset="-122"/>
              <a:ea typeface="STSong" panose="02010600040101010101" charset="-122"/>
              <a:cs typeface="STSong" panose="02010600040101010101" charset="-122"/>
            </a:endParaRPr>
          </a:p>
        </p:txBody>
      </p:sp>
      <p:sp>
        <p:nvSpPr>
          <p:cNvPr id="3" name="head-rule"/>
          <p:cNvSpPr>
            <a:spLocks noGrp="1"/>
          </p:cNvSpPr>
          <p:nvPr/>
        </p:nvSpPr>
        <p:spPr>
          <a:xfrm>
            <a:off x="619125" y="1619250"/>
            <a:ext cx="14001750" cy="13335"/>
          </a:xfrm>
          <a:prstGeom prst="rect">
            <a:avLst/>
          </a:prstGeom>
          <a:solidFill>
            <a:srgbClr val="B7CDE1"/>
          </a:solidFill>
          <a:ln w="0">
            <a:noFill/>
          </a:ln>
        </p:spPr>
      </p:sp>
      <p:sp>
        <p:nvSpPr>
          <p:cNvPr id="4" name="brand"/>
          <p:cNvSpPr>
            <a:spLocks noGrp="1"/>
          </p:cNvSpPr>
          <p:nvPr/>
        </p:nvSpPr>
        <p:spPr>
          <a:xfrm>
            <a:off x="619125" y="8124825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光语者  /  Lightspeaker</a:t>
            </a:r>
            <a:endParaRPr sz="1275" b="0">
              <a:solidFill>
                <a:srgbClr val="516278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5" name="page"/>
          <p:cNvSpPr>
            <a:spLocks noGrp="1"/>
          </p:cNvSpPr>
          <p:nvPr/>
        </p:nvSpPr>
        <p:spPr>
          <a:xfrm>
            <a:off x="14049375" y="80867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07</a:t>
            </a:r>
            <a:endParaRPr sz="1575" b="1">
              <a:solidFill>
                <a:srgbClr val="07357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nav-to-2">
            <a:hlinkClick r:id="rId1" action="ppaction://hlinksldjump"/>
          </p:cNvPr>
          <p:cNvSpPr>
            <a:spLocks noGrp="1"/>
          </p:cNvSpPr>
          <p:nvPr/>
        </p:nvSpPr>
        <p:spPr>
          <a:xfrm>
            <a:off x="13192125" y="8105775"/>
            <a:ext cx="6191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目录</a:t>
            </a:r>
            <a:endParaRPr sz="1350" b="0">
              <a:solidFill>
                <a:srgbClr val="516278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7" name="h-Context：组织本轮有效输入"/>
          <p:cNvSpPr>
            <a:spLocks noGrp="1"/>
          </p:cNvSpPr>
          <p:nvPr/>
        </p:nvSpPr>
        <p:spPr>
          <a:xfrm>
            <a:off x="742950" y="2133600"/>
            <a:ext cx="65722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1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Context：筛选任务相关信息</a:t>
            </a:r>
          </a:p>
        </p:txBody>
      </p:sp>
      <p:sp>
        <p:nvSpPr>
          <p:cNvPr id="8" name="cn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81050" y="2828925"/>
            <a:ext cx="6191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01</a:t>
            </a:r>
            <a:endParaRPr sz="2250" b="1">
              <a:solidFill>
                <a:srgbClr val="8A9BAC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9" name="h-固定前缀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552575" y="2828925"/>
            <a:ext cx="53911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固定前缀</a:t>
            </a:r>
            <a:endParaRPr sz="2025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0" name="b-协议与工具定义保持稳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581150" y="3238500"/>
            <a:ext cx="53911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协议与工具定义保持稳定，便于提示缓存。</a:t>
            </a:r>
            <a:endParaRPr sz="1800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11" name="cr0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752475" y="3743325"/>
            <a:ext cx="6267450" cy="13335"/>
          </a:xfrm>
          <a:prstGeom prst="rect">
            <a:avLst/>
          </a:prstGeom>
          <a:solidFill>
            <a:srgbClr val="C9D0D6"/>
          </a:solidFill>
          <a:ln w="0">
            <a:noFill/>
          </a:ln>
        </p:spPr>
      </p:sp>
      <p:sp>
        <p:nvSpPr>
          <p:cNvPr id="12" name="cn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781050" y="3867150"/>
            <a:ext cx="6191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02</a:t>
            </a:r>
            <a:endParaRPr sz="2250" b="1">
              <a:solidFill>
                <a:srgbClr val="8A9BAC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3" name="h-当前状态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1552575" y="3867150"/>
            <a:ext cx="53911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当前状态</a:t>
            </a:r>
            <a:endParaRPr sz="2025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b-最新目标、纠正、当前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581150" y="4276725"/>
            <a:ext cx="53911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最新目标、纠正、当前截图与运行预算。</a:t>
            </a:r>
            <a:endParaRPr sz="1800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15" name="cr1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752475" y="4781550"/>
            <a:ext cx="6267450" cy="13335"/>
          </a:xfrm>
          <a:prstGeom prst="rect">
            <a:avLst/>
          </a:prstGeom>
          <a:solidFill>
            <a:srgbClr val="C9D0D6"/>
          </a:solidFill>
          <a:ln w="0">
            <a:noFill/>
          </a:ln>
        </p:spPr>
      </p:sp>
      <p:sp>
        <p:nvSpPr>
          <p:cNvPr id="16" name="cn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781050" y="4905375"/>
            <a:ext cx="6191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03</a:t>
            </a:r>
            <a:endParaRPr sz="2250" b="1">
              <a:solidFill>
                <a:srgbClr val="8A9BAC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7" name="h-完整历史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552575" y="4905375"/>
            <a:ext cx="53911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完整历史</a:t>
            </a:r>
            <a:endParaRPr sz="2025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8" name="b-调用与回执成组保留；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1581150" y="5314950"/>
            <a:ext cx="53911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调用与回执成组保留；裁剪冗余历史。</a:t>
            </a:r>
          </a:p>
        </p:txBody>
      </p:sp>
      <p:sp>
        <p:nvSpPr>
          <p:cNvPr id="19" name="cr2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752475" y="5819775"/>
            <a:ext cx="6267450" cy="13335"/>
          </a:xfrm>
          <a:prstGeom prst="rect">
            <a:avLst/>
          </a:prstGeom>
          <a:solidFill>
            <a:srgbClr val="C9D0D6"/>
          </a:solidFill>
          <a:ln w="0">
            <a:noFill/>
          </a:ln>
        </p:spPr>
      </p:sp>
      <p:sp>
        <p:nvSpPr>
          <p:cNvPr id="20" name="cn3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781050" y="5943600"/>
            <a:ext cx="6191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250" b="1">
                <a:solidFill>
                  <a:srgbClr val="8A9BA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04</a:t>
            </a:r>
            <a:endParaRPr sz="2250" b="1">
              <a:solidFill>
                <a:srgbClr val="8A9BAC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1" name="h-任务信息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1552575" y="5943600"/>
            <a:ext cx="53911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任务信息</a:t>
            </a:r>
            <a:endParaRPr sz="2025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2" name="b-注入当前Plan和适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1581150" y="6353175"/>
            <a:ext cx="53911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注入当前Plan和适用Memory，记录裁剪原因。</a:t>
            </a:r>
            <a:endParaRPr sz="1800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23" name="h-Plan：维护阶段与阻塞事项"/>
          <p:cNvSpPr>
            <a:spLocks noGrp="1"/>
          </p:cNvSpPr>
          <p:nvPr/>
        </p:nvSpPr>
        <p:spPr>
          <a:xfrm>
            <a:off x="7800975" y="2133600"/>
            <a:ext cx="67913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Plan：维护阶段与阻塞事项</a:t>
            </a:r>
            <a:endParaRPr sz="2325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4" name="b-查询比较 → 整理结"/>
          <p:cNvSpPr>
            <a:spLocks noGrp="1"/>
          </p:cNvSpPr>
          <p:nvPr/>
        </p:nvSpPr>
        <p:spPr>
          <a:xfrm>
            <a:off x="7839075" y="2781300"/>
            <a:ext cx="6705600" cy="1276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查询比较 → 整理结果 → 确认交付</a:t>
            </a:r>
            <a:endParaRPr sz="2025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  <a:p>
            <a: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阶段更新可与允许的GUI动作同轮返回；</a:t>
            </a:r>
            <a:endParaRPr sz="2025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  <a:p>
            <a: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任务终止需等待动作回执后独立完成。</a:t>
            </a:r>
            <a:endParaRPr sz="2025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25" name="memory-divider"/>
          <p:cNvSpPr>
            <a:spLocks noGrp="1"/>
          </p:cNvSpPr>
          <p:nvPr/>
        </p:nvSpPr>
        <p:spPr>
          <a:xfrm>
            <a:off x="7800975" y="4324350"/>
            <a:ext cx="6772275" cy="13335"/>
          </a:xfrm>
          <a:prstGeom prst="rect">
            <a:avLst/>
          </a:prstGeom>
          <a:solidFill>
            <a:srgbClr val="B8CCE2"/>
          </a:solidFill>
          <a:ln w="0">
            <a:noFill/>
          </a:ln>
        </p:spPr>
      </p:sp>
      <p:sp>
        <p:nvSpPr>
          <p:cNvPr id="26" name="h-Memory：准入检查后再检索"/>
          <p:cNvSpPr>
            <a:spLocks noGrp="1"/>
          </p:cNvSpPr>
          <p:nvPr/>
        </p:nvSpPr>
        <p:spPr>
          <a:xfrm>
            <a:off x="7800975" y="4591050"/>
            <a:ext cx="67913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Memory：准入检查后再检索</a:t>
            </a:r>
            <a:endParaRPr sz="2325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7" name="m-eligibility"/>
          <p:cNvSpPr>
            <a:spLocks noGrp="1"/>
          </p:cNvSpPr>
          <p:nvPr/>
        </p:nvSpPr>
        <p:spPr>
          <a:xfrm>
            <a:off x="7810500" y="5200650"/>
            <a:ext cx="6762750" cy="552450"/>
          </a:xfrm>
          <a:prstGeom prst="rect">
            <a:avLst/>
          </a:prstGeom>
          <a:solidFill>
            <a:srgbClr val="FFFFFF"/>
          </a:solidFill>
          <a:ln w="16193">
            <a:solidFill>
              <a:srgbClr val="252C35"/>
            </a:solidFill>
          </a:ln>
        </p:spPr>
      </p:sp>
      <p:sp>
        <p:nvSpPr>
          <p:cNvPr id="28" name="m-eligibility-text"/>
          <p:cNvSpPr>
            <a:spLocks noGrp="1"/>
          </p:cNvSpPr>
          <p:nvPr/>
        </p:nvSpPr>
        <p:spPr>
          <a:xfrm>
            <a:off x="7924800" y="5314950"/>
            <a:ext cx="65341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范围、事实主体、是否已被替代</a:t>
            </a:r>
            <a:endParaRPr sz="1875" b="0">
              <a:solidFill>
                <a:srgbClr val="252C35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29" name="m-arrow"/>
          <p:cNvCxnSpPr/>
          <p:nvPr/>
        </p:nvCxnSpPr>
        <p:spPr>
          <a:xfrm>
            <a:off x="11191875" y="5762625"/>
            <a:ext cx="0" cy="238125"/>
          </a:xfrm>
          <a:prstGeom prst="straightConnector1">
            <a:avLst/>
          </a:prstGeom>
          <a:ln w="20955">
            <a:solidFill>
              <a:srgbClr val="252C35"/>
            </a:solidFill>
            <a:tailEnd type="triangle" w="sm" len="sm"/>
          </a:ln>
        </p:spPr>
      </p:cxnSp>
      <p:sp>
        <p:nvSpPr>
          <p:cNvPr id="30" name="m-rank"/>
          <p:cNvSpPr>
            <a:spLocks noGrp="1"/>
          </p:cNvSpPr>
          <p:nvPr/>
        </p:nvSpPr>
        <p:spPr>
          <a:xfrm>
            <a:off x="7810500" y="6019800"/>
            <a:ext cx="6762750" cy="552450"/>
          </a:xfrm>
          <a:prstGeom prst="rect">
            <a:avLst/>
          </a:prstGeom>
          <a:solidFill>
            <a:srgbClr val="FFFFFF"/>
          </a:solidFill>
          <a:ln w="16193">
            <a:solidFill>
              <a:srgbClr val="252C35"/>
            </a:solidFill>
          </a:ln>
        </p:spPr>
      </p:sp>
      <p:sp>
        <p:nvSpPr>
          <p:cNvPr id="31" name="m-rank-text"/>
          <p:cNvSpPr>
            <a:spLocks noGrp="1"/>
          </p:cNvSpPr>
          <p:nvPr/>
        </p:nvSpPr>
        <p:spPr>
          <a:xfrm>
            <a:off x="7924800" y="6134100"/>
            <a:ext cx="65341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有效性分组 → 词法或可选向量排序</a:t>
            </a:r>
            <a:endParaRPr sz="1875" b="0">
              <a:solidFill>
                <a:srgbClr val="252C35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2" name="b-适用事实与待核实信息"/>
          <p:cNvSpPr>
            <a:spLocks noGrp="1"/>
          </p:cNvSpPr>
          <p:nvPr/>
        </p:nvSpPr>
        <p:spPr>
          <a:xfrm>
            <a:off x="7839075" y="6934200"/>
            <a:ext cx="67056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适用事实与待核实信息分开呈现；短期信息重新核实。</a:t>
            </a:r>
            <a:endParaRPr sz="1875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  <a:p>
            <a: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endParaRPr sz="1875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" name="section"/>
          <p:cNvSpPr>
            <a:spLocks noGrp="1"/>
          </p:cNvSpPr>
          <p:nvPr/>
        </p:nvSpPr>
        <p:spPr>
          <a:xfrm>
            <a:off x="619125" y="314325"/>
            <a:ext cx="12668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系统设计 · 执行闭环</a:t>
            </a:r>
            <a:endParaRPr sz="1350" b="0">
              <a:solidFill>
                <a:srgbClr val="516278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2" name="heading"/>
          <p:cNvSpPr>
            <a:spLocks noGrp="1"/>
          </p:cNvSpPr>
          <p:nvPr/>
        </p:nvSpPr>
        <p:spPr>
          <a:xfrm>
            <a:off x="619125" y="762000"/>
            <a:ext cx="1400175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defPPr>
            <a:lvl1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1pPr>
            <a:lvl2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2pPr>
            <a:lvl3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3pPr>
            <a:lvl4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4pPr>
            <a:lvl5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5pPr>
            <a:lvl6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6pPr>
            <a:lvl7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7pPr>
            <a:lvl8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8pPr>
            <a:lvl9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9pPr>
          </a:lstStyle>
          <a:p>
            <a: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pPr>
            <a:r>
              <a: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rPr>
              <a:t>执行回执、状态核对与恢复提示</a:t>
            </a:r>
            <a:endParaRPr sz="3450" b="1">
              <a:solidFill>
                <a:srgbClr val="073570"/>
              </a:solidFill>
              <a:latin typeface="STSong" panose="02010600040101010101" charset="-122"/>
              <a:ea typeface="STSong" panose="02010600040101010101" charset="-122"/>
              <a:cs typeface="STSong" panose="02010600040101010101" charset="-122"/>
            </a:endParaRPr>
          </a:p>
        </p:txBody>
      </p:sp>
      <p:sp>
        <p:nvSpPr>
          <p:cNvPr id="3" name="head-rule"/>
          <p:cNvSpPr>
            <a:spLocks noGrp="1"/>
          </p:cNvSpPr>
          <p:nvPr/>
        </p:nvSpPr>
        <p:spPr>
          <a:xfrm>
            <a:off x="619125" y="1619250"/>
            <a:ext cx="14001750" cy="13335"/>
          </a:xfrm>
          <a:prstGeom prst="rect">
            <a:avLst/>
          </a:prstGeom>
          <a:solidFill>
            <a:srgbClr val="B7CDE1"/>
          </a:solidFill>
          <a:ln w="0">
            <a:noFill/>
          </a:ln>
        </p:spPr>
      </p:sp>
      <p:sp>
        <p:nvSpPr>
          <p:cNvPr id="4" name="brand"/>
          <p:cNvSpPr>
            <a:spLocks noGrp="1"/>
          </p:cNvSpPr>
          <p:nvPr/>
        </p:nvSpPr>
        <p:spPr>
          <a:xfrm>
            <a:off x="619125" y="8124825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光语者  /  Lightspeaker</a:t>
            </a:r>
            <a:endParaRPr sz="1275" b="0">
              <a:solidFill>
                <a:srgbClr val="516278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5" name="page"/>
          <p:cNvSpPr>
            <a:spLocks noGrp="1"/>
          </p:cNvSpPr>
          <p:nvPr/>
        </p:nvSpPr>
        <p:spPr>
          <a:xfrm>
            <a:off x="14049375" y="80867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08</a:t>
            </a:r>
            <a:endParaRPr sz="1575" b="1">
              <a:solidFill>
                <a:srgbClr val="07357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nav-to-2">
            <a:hlinkClick r:id="rId1" action="ppaction://hlinksldjump"/>
          </p:cNvPr>
          <p:cNvSpPr>
            <a:spLocks noGrp="1"/>
          </p:cNvSpPr>
          <p:nvPr/>
        </p:nvSpPr>
        <p:spPr>
          <a:xfrm>
            <a:off x="13192125" y="8105775"/>
            <a:ext cx="6191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目录</a:t>
            </a:r>
            <a:endParaRPr sz="1350" b="0">
              <a:solidFill>
                <a:srgbClr val="516278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7" name="observe"/>
          <p:cNvSpPr>
            <a:spLocks noGrp="1"/>
          </p:cNvSpPr>
          <p:nvPr/>
        </p:nvSpPr>
        <p:spPr>
          <a:xfrm>
            <a:off x="790575" y="2219325"/>
            <a:ext cx="5476875" cy="552450"/>
          </a:xfrm>
          <a:prstGeom prst="rect">
            <a:avLst/>
          </a:prstGeom>
          <a:solidFill>
            <a:srgbClr val="FFFFFF"/>
          </a:solidFill>
          <a:ln w="16193">
            <a:solidFill>
              <a:srgbClr val="252C35"/>
            </a:solidFill>
          </a:ln>
        </p:spPr>
      </p:sp>
      <p:sp>
        <p:nvSpPr>
          <p:cNvPr id="8" name="observe-text"/>
          <p:cNvSpPr>
            <a:spLocks noGrp="1"/>
          </p:cNvSpPr>
          <p:nvPr/>
        </p:nvSpPr>
        <p:spPr>
          <a:xfrm>
            <a:off x="904875" y="2333625"/>
            <a:ext cx="52482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观察并编译本轮上下文</a:t>
            </a:r>
            <a:endParaRPr sz="1875" b="0">
              <a:solidFill>
                <a:srgbClr val="252C35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9" name="e1"/>
          <p:cNvCxnSpPr/>
          <p:nvPr/>
        </p:nvCxnSpPr>
        <p:spPr>
          <a:xfrm>
            <a:off x="3524250" y="2781300"/>
            <a:ext cx="0" cy="257175"/>
          </a:xfrm>
          <a:prstGeom prst="straightConnector1">
            <a:avLst/>
          </a:prstGeom>
          <a:ln w="20955">
            <a:solidFill>
              <a:srgbClr val="252C35"/>
            </a:solidFill>
            <a:tailEnd type="triangle" w="sm" len="sm"/>
          </a:ln>
        </p:spPr>
      </p:cxnSp>
      <p:sp>
        <p:nvSpPr>
          <p:cNvPr id="10" name="model"/>
          <p:cNvSpPr>
            <a:spLocks noGrp="1"/>
          </p:cNvSpPr>
          <p:nvPr/>
        </p:nvSpPr>
        <p:spPr>
          <a:xfrm>
            <a:off x="790575" y="3057525"/>
            <a:ext cx="5476875" cy="552450"/>
          </a:xfrm>
          <a:prstGeom prst="rect">
            <a:avLst/>
          </a:prstGeom>
          <a:solidFill>
            <a:srgbClr val="FFFFFF"/>
          </a:solidFill>
          <a:ln w="16193">
            <a:solidFill>
              <a:srgbClr val="252C35"/>
            </a:solidFill>
          </a:ln>
        </p:spPr>
      </p:sp>
      <p:sp>
        <p:nvSpPr>
          <p:cNvPr id="11" name="model-text"/>
          <p:cNvSpPr>
            <a:spLocks noGrp="1"/>
          </p:cNvSpPr>
          <p:nvPr/>
        </p:nvSpPr>
        <p:spPr>
          <a:xfrm>
            <a:off x="904875" y="3171825"/>
            <a:ext cx="52482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模型返回动作与上一步状态判断</a:t>
            </a:r>
            <a:endParaRPr sz="1875" b="0">
              <a:solidFill>
                <a:srgbClr val="252C35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2" name="e2"/>
          <p:cNvCxnSpPr/>
          <p:nvPr/>
        </p:nvCxnSpPr>
        <p:spPr>
          <a:xfrm>
            <a:off x="3524250" y="3619500"/>
            <a:ext cx="0" cy="257175"/>
          </a:xfrm>
          <a:prstGeom prst="straightConnector1">
            <a:avLst/>
          </a:prstGeom>
          <a:ln w="20955">
            <a:solidFill>
              <a:srgbClr val="252C35"/>
            </a:solidFill>
            <a:tailEnd type="triangle" w="sm" len="sm"/>
          </a:ln>
        </p:spPr>
      </p:cxnSp>
      <p:sp>
        <p:nvSpPr>
          <p:cNvPr id="13" name="check"/>
          <p:cNvSpPr>
            <a:spLocks noGrp="1"/>
          </p:cNvSpPr>
          <p:nvPr/>
        </p:nvSpPr>
        <p:spPr>
          <a:xfrm>
            <a:off x="790575" y="3895725"/>
            <a:ext cx="5476875" cy="552450"/>
          </a:xfrm>
          <a:prstGeom prst="rect">
            <a:avLst/>
          </a:prstGeom>
          <a:solidFill>
            <a:srgbClr val="FFFFFF"/>
          </a:solidFill>
          <a:ln w="16193">
            <a:solidFill>
              <a:srgbClr val="252C35"/>
            </a:solidFill>
          </a:ln>
        </p:spPr>
      </p:sp>
      <p:sp>
        <p:nvSpPr>
          <p:cNvPr id="14" name="check-text"/>
          <p:cNvSpPr>
            <a:spLocks noGrp="1"/>
          </p:cNvSpPr>
          <p:nvPr/>
        </p:nvSpPr>
        <p:spPr>
          <a:xfrm>
            <a:off x="904875" y="4010025"/>
            <a:ext cx="52482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检查调用、授权、最新纠正与目标</a:t>
            </a:r>
            <a:endParaRPr sz="1875" b="0">
              <a:solidFill>
                <a:srgbClr val="252C35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e3"/>
          <p:cNvCxnSpPr/>
          <p:nvPr/>
        </p:nvCxnSpPr>
        <p:spPr>
          <a:xfrm>
            <a:off x="3524250" y="4457700"/>
            <a:ext cx="0" cy="257175"/>
          </a:xfrm>
          <a:prstGeom prst="straightConnector1">
            <a:avLst/>
          </a:prstGeom>
          <a:ln w="20955">
            <a:solidFill>
              <a:srgbClr val="252C35"/>
            </a:solidFill>
            <a:tailEnd type="triangle" w="sm" len="sm"/>
          </a:ln>
        </p:spPr>
      </p:cxnSp>
      <p:sp>
        <p:nvSpPr>
          <p:cNvPr id="16" name="execute"/>
          <p:cNvSpPr>
            <a:spLocks noGrp="1"/>
          </p:cNvSpPr>
          <p:nvPr/>
        </p:nvSpPr>
        <p:spPr>
          <a:xfrm>
            <a:off x="790575" y="4733925"/>
            <a:ext cx="5476875" cy="552450"/>
          </a:xfrm>
          <a:prstGeom prst="rect">
            <a:avLst/>
          </a:prstGeom>
          <a:solidFill>
            <a:srgbClr val="FFFFFF"/>
          </a:solidFill>
          <a:ln w="16193">
            <a:solidFill>
              <a:srgbClr val="252C35"/>
            </a:solidFill>
          </a:ln>
        </p:spPr>
      </p:sp>
      <p:sp>
        <p:nvSpPr>
          <p:cNvPr id="17" name="execute-text"/>
          <p:cNvSpPr>
            <a:spLocks noGrp="1"/>
          </p:cNvSpPr>
          <p:nvPr/>
        </p:nvSpPr>
        <p:spPr>
          <a:xfrm>
            <a:off x="904875" y="4848225"/>
            <a:ext cx="52482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执行动作，记录逐项回执</a:t>
            </a:r>
            <a:endParaRPr sz="1875" b="0">
              <a:solidFill>
                <a:srgbClr val="252C35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8" name="e4"/>
          <p:cNvCxnSpPr/>
          <p:nvPr/>
        </p:nvCxnSpPr>
        <p:spPr>
          <a:xfrm>
            <a:off x="3524250" y="5295900"/>
            <a:ext cx="0" cy="257175"/>
          </a:xfrm>
          <a:prstGeom prst="straightConnector1">
            <a:avLst/>
          </a:prstGeom>
          <a:ln w="20955">
            <a:solidFill>
              <a:srgbClr val="252C35"/>
            </a:solidFill>
            <a:tailEnd type="triangle" w="sm" len="sm"/>
          </a:ln>
        </p:spPr>
      </p:cxnSp>
      <p:sp>
        <p:nvSpPr>
          <p:cNvPr id="19" name="reobserve"/>
          <p:cNvSpPr>
            <a:spLocks noGrp="1"/>
          </p:cNvSpPr>
          <p:nvPr/>
        </p:nvSpPr>
        <p:spPr>
          <a:xfrm>
            <a:off x="790575" y="5572125"/>
            <a:ext cx="5476875" cy="552450"/>
          </a:xfrm>
          <a:prstGeom prst="rect">
            <a:avLst/>
          </a:prstGeom>
          <a:solidFill>
            <a:srgbClr val="FFFFFF"/>
          </a:solidFill>
          <a:ln w="16193">
            <a:solidFill>
              <a:srgbClr val="252C35"/>
            </a:solidFill>
          </a:ln>
        </p:spPr>
      </p:sp>
      <p:sp>
        <p:nvSpPr>
          <p:cNvPr id="20" name="reobserve-text"/>
          <p:cNvSpPr>
            <a:spLocks noGrp="1"/>
          </p:cNvSpPr>
          <p:nvPr/>
        </p:nvSpPr>
        <p:spPr>
          <a:xfrm>
            <a:off x="904875" y="5686425"/>
            <a:ext cx="52482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重新观察，核对实际界面</a:t>
            </a:r>
            <a:endParaRPr sz="1875" b="0">
              <a:solidFill>
                <a:srgbClr val="252C35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21" name="e5"/>
          <p:cNvCxnSpPr/>
          <p:nvPr/>
        </p:nvCxnSpPr>
        <p:spPr>
          <a:xfrm>
            <a:off x="3524250" y="6134100"/>
            <a:ext cx="0" cy="257175"/>
          </a:xfrm>
          <a:prstGeom prst="straightConnector1">
            <a:avLst/>
          </a:prstGeom>
          <a:ln w="20955">
            <a:solidFill>
              <a:srgbClr val="252C35"/>
            </a:solidFill>
            <a:tailEnd type="triangle" w="sm" len="sm"/>
          </a:ln>
        </p:spPr>
      </p:cxnSp>
      <p:sp>
        <p:nvSpPr>
          <p:cNvPr id="22" name="reduce"/>
          <p:cNvSpPr>
            <a:spLocks noGrp="1"/>
          </p:cNvSpPr>
          <p:nvPr/>
        </p:nvSpPr>
        <p:spPr>
          <a:xfrm>
            <a:off x="790575" y="6410325"/>
            <a:ext cx="5476875" cy="552450"/>
          </a:xfrm>
          <a:prstGeom prst="rect">
            <a:avLst/>
          </a:prstGeom>
          <a:solidFill>
            <a:srgbClr val="FFFFFF"/>
          </a:solidFill>
          <a:ln w="16193">
            <a:solidFill>
              <a:srgbClr val="252C35"/>
            </a:solidFill>
          </a:ln>
        </p:spPr>
      </p:sp>
      <p:sp>
        <p:nvSpPr>
          <p:cNvPr id="23" name="reduce-text"/>
          <p:cNvSpPr>
            <a:spLocks noGrp="1"/>
          </p:cNvSpPr>
          <p:nvPr/>
        </p:nvSpPr>
        <p:spPr>
          <a:xfrm>
            <a:off x="904875" y="6524625"/>
            <a:ext cx="52482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ctr">
              <a:def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875" b="0">
                <a:solidFill>
                  <a:srgbClr val="252C3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更新状态，继续任务或结束</a:t>
            </a:r>
            <a:endParaRPr sz="1875" b="0">
              <a:solidFill>
                <a:srgbClr val="252C35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4" name="loop1"/>
          <p:cNvSpPr>
            <a:spLocks noGrp="1"/>
          </p:cNvSpPr>
          <p:nvPr/>
        </p:nvSpPr>
        <p:spPr>
          <a:xfrm>
            <a:off x="495300" y="7229475"/>
            <a:ext cx="3028950" cy="13335"/>
          </a:xfrm>
          <a:prstGeom prst="rect">
            <a:avLst/>
          </a:prstGeom>
          <a:solidFill>
            <a:srgbClr val="252C35"/>
          </a:solidFill>
          <a:ln w="0">
            <a:noFill/>
          </a:ln>
        </p:spPr>
      </p:sp>
      <p:sp>
        <p:nvSpPr>
          <p:cNvPr id="25" name="loop2"/>
          <p:cNvSpPr>
            <a:spLocks noGrp="1"/>
          </p:cNvSpPr>
          <p:nvPr/>
        </p:nvSpPr>
        <p:spPr>
          <a:xfrm>
            <a:off x="495300" y="2495550"/>
            <a:ext cx="13335" cy="4733925"/>
          </a:xfrm>
          <a:prstGeom prst="rect">
            <a:avLst/>
          </a:prstGeom>
          <a:solidFill>
            <a:srgbClr val="252C35"/>
          </a:solidFill>
          <a:ln w="0">
            <a:noFill/>
          </a:ln>
        </p:spPr>
      </p:sp>
      <p:cxnSp>
        <p:nvCxnSpPr>
          <p:cNvPr id="26" name="loop3"/>
          <p:cNvCxnSpPr/>
          <p:nvPr/>
        </p:nvCxnSpPr>
        <p:spPr>
          <a:xfrm>
            <a:off x="495300" y="2495550"/>
            <a:ext cx="266700" cy="0"/>
          </a:xfrm>
          <a:prstGeom prst="straightConnector1">
            <a:avLst/>
          </a:prstGeom>
          <a:ln w="20955">
            <a:solidFill>
              <a:srgbClr val="252C35"/>
            </a:solidFill>
            <a:tailEnd type="triangle" w="sm" len="sm"/>
          </a:ln>
        </p:spPr>
      </p:cxnSp>
      <p:sp>
        <p:nvSpPr>
          <p:cNvPr id="27" name="loop4"/>
          <p:cNvSpPr>
            <a:spLocks noGrp="1"/>
          </p:cNvSpPr>
          <p:nvPr/>
        </p:nvSpPr>
        <p:spPr>
          <a:xfrm>
            <a:off x="3524250" y="6972300"/>
            <a:ext cx="13335" cy="257175"/>
          </a:xfrm>
          <a:prstGeom prst="rect">
            <a:avLst/>
          </a:prstGeom>
          <a:solidFill>
            <a:srgbClr val="252C35"/>
          </a:solidFill>
          <a:ln w="0">
            <a:noFill/>
          </a:ln>
        </p:spPr>
      </p:sp>
      <p:sp>
        <p:nvSpPr>
          <p:cNvPr id="28" name="looplabel"/>
          <p:cNvSpPr>
            <a:spLocks noGrp="1"/>
          </p:cNvSpPr>
          <p:nvPr/>
        </p:nvSpPr>
        <p:spPr>
          <a:xfrm>
            <a:off x="1152525" y="7400925"/>
            <a:ext cx="4572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任务未完成</a:t>
            </a:r>
            <a:endParaRPr sz="1575" b="0">
              <a:solidFill>
                <a:srgbClr val="687581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29" name="h-回执处理"/>
          <p:cNvSpPr>
            <a:spLocks noGrp="1"/>
          </p:cNvSpPr>
          <p:nvPr/>
        </p:nvSpPr>
        <p:spPr>
          <a:xfrm>
            <a:off x="7248525" y="2209800"/>
            <a:ext cx="73533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回执处理</a:t>
            </a:r>
            <a:endParaRPr sz="2325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0" name="b-成功派发：以新画面核"/>
          <p:cNvSpPr>
            <a:spLocks noGrp="1"/>
          </p:cNvSpPr>
          <p:nvPr/>
        </p:nvSpPr>
        <p:spPr>
          <a:xfrm>
            <a:off x="7286625" y="2781300"/>
            <a:ext cx="7219950" cy="1457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成功派发：以新画面核对效果。</a:t>
            </a:r>
            <a:endParaRPr sz="2025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  <a:p>
            <a: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部分执行：停止未执行</a:t>
            </a:r>
            <a:r>
              <a:rPr lang="zh-CN" altLang="en-US"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的剩余操作</a:t>
            </a:r>
            <a:r>
              <a: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，保留已有回执。</a:t>
            </a:r>
            <a:endParaRPr sz="2025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  <a:p>
            <a: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结果未知：重新观察或人工确认，不直接重发。</a:t>
            </a:r>
            <a:endParaRPr sz="2025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31" name="monitor-rule"/>
          <p:cNvSpPr>
            <a:spLocks noGrp="1"/>
          </p:cNvSpPr>
          <p:nvPr/>
        </p:nvSpPr>
        <p:spPr>
          <a:xfrm>
            <a:off x="7239000" y="4457700"/>
            <a:ext cx="7296150" cy="13335"/>
          </a:xfrm>
          <a:prstGeom prst="rect">
            <a:avLst/>
          </a:prstGeom>
          <a:solidFill>
            <a:srgbClr val="B8CCE2"/>
          </a:solidFill>
          <a:ln w="0">
            <a:noFill/>
          </a:ln>
        </p:spPr>
      </p:sp>
      <p:sp>
        <p:nvSpPr>
          <p:cNvPr id="32" name="h-Monitor复用状态判断与可见依据"/>
          <p:cNvSpPr>
            <a:spLocks noGrp="1"/>
          </p:cNvSpPr>
          <p:nvPr/>
        </p:nvSpPr>
        <p:spPr>
          <a:xfrm>
            <a:off x="7248525" y="4733925"/>
            <a:ext cx="73533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Monitor复用状态判断与可见依据</a:t>
            </a:r>
            <a:endParaRPr sz="2325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3" name="b-模型在同次决策中描述"/>
          <p:cNvSpPr>
            <a:spLocks noGrp="1"/>
          </p:cNvSpPr>
          <p:nvPr/>
        </p:nvSpPr>
        <p:spPr>
          <a:xfrm>
            <a:off x="7296150" y="5353050"/>
            <a:ext cx="7200900" cy="1543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模型在同次决策中描述前一步：</a:t>
            </a:r>
            <a:endParaRPr sz="1950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  <a:p>
            <a: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预期变化 / 无效果 / 非预期变化 / 不确定。</a:t>
            </a:r>
            <a:endParaRPr sz="1950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  <a:p>
            <a: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Monitor结合近期动作、画面和回执，生成有针对性的后续提示。</a:t>
            </a:r>
            <a:endParaRPr sz="1950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34" name="note-仅记录模式保存候"/>
          <p:cNvSpPr>
            <a:spLocks noGrp="1"/>
          </p:cNvSpPr>
          <p:nvPr/>
        </p:nvSpPr>
        <p:spPr>
          <a:xfrm>
            <a:off x="7296150" y="7210425"/>
            <a:ext cx="717232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endParaRPr sz="1650" b="0">
              <a:solidFill>
                <a:srgbClr val="687581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section"/>
          <p:cNvSpPr>
            <a:spLocks noGrp="1"/>
          </p:cNvSpPr>
          <p:nvPr/>
        </p:nvSpPr>
        <p:spPr>
          <a:xfrm>
            <a:off x="619125" y="314325"/>
            <a:ext cx="12668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系统设计 · 人机协同</a:t>
            </a:r>
            <a:endParaRPr sz="1350" b="0">
              <a:solidFill>
                <a:srgbClr val="516278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2" name="heading"/>
          <p:cNvSpPr>
            <a:spLocks noGrp="1"/>
          </p:cNvSpPr>
          <p:nvPr/>
        </p:nvSpPr>
        <p:spPr>
          <a:xfrm>
            <a:off x="619125" y="762000"/>
            <a:ext cx="1400175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defPPr>
            <a:lvl1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1pPr>
            <a:lvl2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2pPr>
            <a:lvl3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3pPr>
            <a:lvl4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4pPr>
            <a:lvl5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5pPr>
            <a:lvl6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6pPr>
            <a:lvl7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7pPr>
            <a:lvl8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8pPr>
            <a:lvl9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9pPr>
          </a:lstStyle>
          <a:p>
            <a: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pPr>
            <a:r>
              <a: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rPr>
              <a:t>审批、用户纠正与隐私边界</a:t>
            </a:r>
            <a:endParaRPr sz="3450" b="1">
              <a:solidFill>
                <a:srgbClr val="073570"/>
              </a:solidFill>
              <a:latin typeface="STSong" panose="02010600040101010101" charset="-122"/>
              <a:ea typeface="STSong" panose="02010600040101010101" charset="-122"/>
              <a:cs typeface="STSong" panose="02010600040101010101" charset="-122"/>
            </a:endParaRPr>
          </a:p>
        </p:txBody>
      </p:sp>
      <p:sp>
        <p:nvSpPr>
          <p:cNvPr id="3" name="head-rule"/>
          <p:cNvSpPr>
            <a:spLocks noGrp="1"/>
          </p:cNvSpPr>
          <p:nvPr/>
        </p:nvSpPr>
        <p:spPr>
          <a:xfrm>
            <a:off x="619125" y="1619250"/>
            <a:ext cx="14001750" cy="13335"/>
          </a:xfrm>
          <a:prstGeom prst="rect">
            <a:avLst/>
          </a:prstGeom>
          <a:solidFill>
            <a:srgbClr val="B7CDE1"/>
          </a:solidFill>
          <a:ln w="0">
            <a:noFill/>
          </a:ln>
        </p:spPr>
      </p:sp>
      <p:sp>
        <p:nvSpPr>
          <p:cNvPr id="4" name="brand"/>
          <p:cNvSpPr>
            <a:spLocks noGrp="1"/>
          </p:cNvSpPr>
          <p:nvPr/>
        </p:nvSpPr>
        <p:spPr>
          <a:xfrm>
            <a:off x="619125" y="8124825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光语者  /  Lightspeaker</a:t>
            </a:r>
            <a:endParaRPr sz="1275" b="0">
              <a:solidFill>
                <a:srgbClr val="516278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5" name="page"/>
          <p:cNvSpPr>
            <a:spLocks noGrp="1"/>
          </p:cNvSpPr>
          <p:nvPr/>
        </p:nvSpPr>
        <p:spPr>
          <a:xfrm>
            <a:off x="14049375" y="80867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09</a:t>
            </a:r>
            <a:endParaRPr sz="1575" b="1">
              <a:solidFill>
                <a:srgbClr val="07357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nav-to-2">
            <a:hlinkClick r:id="rId1" action="ppaction://hlinksldjump"/>
          </p:cNvPr>
          <p:cNvSpPr>
            <a:spLocks noGrp="1"/>
          </p:cNvSpPr>
          <p:nvPr/>
        </p:nvSpPr>
        <p:spPr>
          <a:xfrm>
            <a:off x="13192125" y="8105775"/>
            <a:ext cx="6191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目录</a:t>
            </a:r>
            <a:endParaRPr sz="1350" b="0">
              <a:solidFill>
                <a:srgbClr val="516278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12" y="2133600"/>
            <a:ext cx="3312675" cy="5534025"/>
          </a:xfrm>
          <a:prstGeom prst="rect">
            <a:avLst/>
          </a:prstGeom>
        </p:spPr>
      </p:pic>
      <p:sp>
        <p:nvSpPr>
          <p:cNvPr id="8" name="h-审批绑定具体动作"/>
          <p:cNvSpPr>
            <a:spLocks noGrp="1"/>
          </p:cNvSpPr>
          <p:nvPr/>
        </p:nvSpPr>
        <p:spPr>
          <a:xfrm>
            <a:off x="4905375" y="2171700"/>
            <a:ext cx="96202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审批绑定具体动作</a:t>
            </a:r>
            <a:endParaRPr sz="2325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9" name="b-本地规则检查动作影响"/>
          <p:cNvSpPr>
            <a:spLocks noGrp="1"/>
          </p:cNvSpPr>
          <p:nvPr/>
        </p:nvSpPr>
        <p:spPr>
          <a:xfrm>
            <a:off x="4953000" y="2743200"/>
            <a:ext cx="94678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本地规则检查动作影响；必要时展示内容与截图，请用户确认。允许后复查目标和最新要求，再派发动作。</a:t>
            </a:r>
            <a:endParaRPr sz="2025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10" name="human-divider"/>
          <p:cNvSpPr>
            <a:spLocks noGrp="1"/>
          </p:cNvSpPr>
          <p:nvPr/>
        </p:nvSpPr>
        <p:spPr>
          <a:xfrm>
            <a:off x="4914900" y="3905250"/>
            <a:ext cx="9515475" cy="13335"/>
          </a:xfrm>
          <a:prstGeom prst="rect">
            <a:avLst/>
          </a:prstGeom>
          <a:solidFill>
            <a:srgbClr val="B8CCE2"/>
          </a:solidFill>
          <a:ln w="0">
            <a:noFill/>
          </a:ln>
        </p:spPr>
      </p:sp>
      <p:sp>
        <p:nvSpPr>
          <p:cNvPr id="11" name="h-纠正进入同一个任务实例"/>
          <p:cNvSpPr>
            <a:spLocks noGrp="1"/>
          </p:cNvSpPr>
          <p:nvPr/>
        </p:nvSpPr>
        <p:spPr>
          <a:xfrm>
            <a:off x="4905375" y="4191000"/>
            <a:ext cx="96202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纠正进入同一个任务实例</a:t>
            </a:r>
            <a:endParaRPr sz="2325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2" name="b-用户补充要求成为运行"/>
          <p:cNvSpPr>
            <a:spLocks noGrp="1"/>
          </p:cNvSpPr>
          <p:nvPr/>
        </p:nvSpPr>
        <p:spPr>
          <a:xfrm>
            <a:off x="4953000" y="4781550"/>
            <a:ext cx="94678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用户补充要求成为运行命令。</a:t>
            </a:r>
            <a:r>
              <a:rPr lang="zh-CN" altLang="en-US"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执行前和等待用户确认后，系统都会检查最新要求。如果用户改变了要求，就停止尚未执行的原操作，保留已有信息，按新要求继续任务。</a:t>
            </a:r>
            <a:endParaRPr lang="zh-CN" altLang="en-US" sz="2025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13" name="privacy-divider"/>
          <p:cNvSpPr>
            <a:spLocks noGrp="1"/>
          </p:cNvSpPr>
          <p:nvPr/>
        </p:nvSpPr>
        <p:spPr>
          <a:xfrm>
            <a:off x="4914900" y="6019800"/>
            <a:ext cx="9515475" cy="13335"/>
          </a:xfrm>
          <a:prstGeom prst="rect">
            <a:avLst/>
          </a:prstGeom>
          <a:solidFill>
            <a:srgbClr val="B8CCE2"/>
          </a:solidFill>
          <a:ln w="0">
            <a:noFill/>
          </a:ln>
        </p:spPr>
      </p:sp>
      <p:sp>
        <p:nvSpPr>
          <p:cNvPr id="14" name="h-数据与权限"/>
          <p:cNvSpPr>
            <a:spLocks noGrp="1"/>
          </p:cNvSpPr>
          <p:nvPr/>
        </p:nvSpPr>
        <p:spPr>
          <a:xfrm>
            <a:off x="4905375" y="6267450"/>
            <a:ext cx="96202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数据与权限</a:t>
            </a:r>
            <a:endParaRPr sz="2325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5" name="b-手机通过配对授权连接"/>
          <p:cNvSpPr>
            <a:spLocks noGrp="1"/>
          </p:cNvSpPr>
          <p:nvPr/>
        </p:nvSpPr>
        <p:spPr>
          <a:xfrm>
            <a:off x="4953000" y="6838950"/>
            <a:ext cx="9467850" cy="1009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手机通过配对授权连接；浏览器登录配置保留在电脑。</a:t>
            </a:r>
            <a:endParaRPr sz="1950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  <a:p>
            <a: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模型按配置接收任务文本、截图与必要上下文；</a:t>
            </a:r>
            <a:endParaRPr sz="1950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  <a:p>
            <a: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个性化偏好影响表达，不改变操作授权与审批规则。</a:t>
            </a:r>
            <a:endParaRPr sz="1950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57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000" name="Embedded real task demo" descr="Windows跨应用任务与macOS用户纠正；点击播放">
            <a:hlinkClick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5000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section"/>
          <p:cNvSpPr>
            <a:spLocks noGrp="1"/>
          </p:cNvSpPr>
          <p:nvPr/>
        </p:nvSpPr>
        <p:spPr>
          <a:xfrm>
            <a:off x="619125" y="314325"/>
            <a:ext cx="12668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真实案例 · WINDOWS 与 MACOS</a:t>
            </a:r>
            <a:endParaRPr sz="1350" b="0">
              <a:solidFill>
                <a:srgbClr val="516278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2" name="heading"/>
          <p:cNvSpPr>
            <a:spLocks noGrp="1"/>
          </p:cNvSpPr>
          <p:nvPr/>
        </p:nvSpPr>
        <p:spPr>
          <a:xfrm>
            <a:off x="619125" y="762000"/>
            <a:ext cx="1400175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defPPr>
            <a:lvl1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1pPr>
            <a:lvl2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2pPr>
            <a:lvl3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3pPr>
            <a:lvl4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4pPr>
            <a:lvl5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5pPr>
            <a:lvl6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6pPr>
            <a:lvl7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7pPr>
            <a:lvl8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8pPr>
            <a:lvl9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9pPr>
          </a:lstStyle>
          <a:p>
            <a: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pPr>
            <a:r>
              <a: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rPr>
              <a:t>代表性实机任务</a:t>
            </a:r>
            <a:endParaRPr sz="3450" b="1">
              <a:solidFill>
                <a:srgbClr val="073570"/>
              </a:solidFill>
              <a:latin typeface="STSong" panose="02010600040101010101" charset="-122"/>
              <a:ea typeface="STSong" panose="02010600040101010101" charset="-122"/>
              <a:cs typeface="STSong" panose="02010600040101010101" charset="-122"/>
            </a:endParaRPr>
          </a:p>
        </p:txBody>
      </p:sp>
      <p:sp>
        <p:nvSpPr>
          <p:cNvPr id="3" name="head-rule"/>
          <p:cNvSpPr>
            <a:spLocks noGrp="1"/>
          </p:cNvSpPr>
          <p:nvPr/>
        </p:nvSpPr>
        <p:spPr>
          <a:xfrm>
            <a:off x="619125" y="1619250"/>
            <a:ext cx="14001750" cy="13335"/>
          </a:xfrm>
          <a:prstGeom prst="rect">
            <a:avLst/>
          </a:prstGeom>
          <a:solidFill>
            <a:srgbClr val="B7CDE1"/>
          </a:solidFill>
          <a:ln w="0">
            <a:noFill/>
          </a:ln>
        </p:spPr>
      </p:sp>
      <p:sp>
        <p:nvSpPr>
          <p:cNvPr id="4" name="brand"/>
          <p:cNvSpPr>
            <a:spLocks noGrp="1"/>
          </p:cNvSpPr>
          <p:nvPr/>
        </p:nvSpPr>
        <p:spPr>
          <a:xfrm>
            <a:off x="619125" y="8124825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光语者  /  Lightspeaker</a:t>
            </a:r>
            <a:endParaRPr sz="1275" b="0">
              <a:solidFill>
                <a:srgbClr val="516278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5" name="page"/>
          <p:cNvSpPr>
            <a:spLocks noGrp="1"/>
          </p:cNvSpPr>
          <p:nvPr/>
        </p:nvSpPr>
        <p:spPr>
          <a:xfrm>
            <a:off x="14049375" y="80867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11</a:t>
            </a:r>
            <a:endParaRPr sz="1575" b="1">
              <a:solidFill>
                <a:srgbClr val="07357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nav-to-2">
            <a:hlinkClick r:id="rId1" action="ppaction://hlinksldjump"/>
          </p:cNvPr>
          <p:cNvSpPr>
            <a:spLocks noGrp="1"/>
          </p:cNvSpPr>
          <p:nvPr/>
        </p:nvSpPr>
        <p:spPr>
          <a:xfrm>
            <a:off x="13192125" y="8105775"/>
            <a:ext cx="6191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目录</a:t>
            </a:r>
            <a:endParaRPr sz="1350" b="0">
              <a:solidFill>
                <a:srgbClr val="516278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7" name="h-Windows：查票与微信交付"/>
          <p:cNvSpPr>
            <a:spLocks noGrp="1"/>
          </p:cNvSpPr>
          <p:nvPr/>
        </p:nvSpPr>
        <p:spPr>
          <a:xfrm>
            <a:off x="752475" y="2133600"/>
            <a:ext cx="661987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Windows：查票与微信交付</a:t>
            </a:r>
            <a:endParaRPr sz="2325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2839480"/>
            <a:ext cx="6619875" cy="1988664"/>
          </a:xfrm>
          <a:prstGeom prst="rect">
            <a:avLst/>
          </a:prstGeom>
        </p:spPr>
      </p:pic>
      <p:sp>
        <p:nvSpPr>
          <p:cNvPr id="9" name="h-日期、时段、直达与余票的联合约束"/>
          <p:cNvSpPr>
            <a:spLocks noGrp="1"/>
          </p:cNvSpPr>
          <p:nvPr/>
        </p:nvSpPr>
        <p:spPr>
          <a:xfrm>
            <a:off x="771525" y="5219700"/>
            <a:ext cx="65913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日期、时段、直达与余票的联合约束</a:t>
            </a:r>
            <a:endParaRPr sz="2025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0" name="b-查询上海至雁荡山的指"/>
          <p:cNvSpPr>
            <a:spLocks noGrp="1"/>
          </p:cNvSpPr>
          <p:nvPr/>
        </p:nvSpPr>
        <p:spPr>
          <a:xfrm>
            <a:off x="781050" y="5715000"/>
            <a:ext cx="6562725" cy="1200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计划保留查询与交付安排。电脑核对日期、时段、车站和余票，切换微信后由手机批准发送，观察消息确认交付。</a:t>
            </a:r>
          </a:p>
        </p:txBody>
      </p:sp>
      <p:sp>
        <p:nvSpPr>
          <p:cNvPr id="11" name="note-一次任务完成：信"/>
          <p:cNvSpPr>
            <a:spLocks noGrp="1"/>
          </p:cNvSpPr>
          <p:nvPr/>
        </p:nvSpPr>
        <p:spPr>
          <a:xfrm>
            <a:off x="781050" y="7229475"/>
            <a:ext cx="6572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一次任务完成：信息检索、条件核对、跨应用与受控交付。</a:t>
            </a:r>
            <a:endParaRPr sz="1650" b="0">
              <a:solidFill>
                <a:srgbClr val="687581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12" name="case-split"/>
          <p:cNvSpPr>
            <a:spLocks noGrp="1"/>
          </p:cNvSpPr>
          <p:nvPr/>
        </p:nvSpPr>
        <p:spPr>
          <a:xfrm>
            <a:off x="7743825" y="2152650"/>
            <a:ext cx="13335" cy="5391150"/>
          </a:xfrm>
          <a:prstGeom prst="rect">
            <a:avLst/>
          </a:prstGeom>
          <a:solidFill>
            <a:srgbClr val="B8CCE2"/>
          </a:solidFill>
          <a:ln w="0">
            <a:noFill/>
          </a:ln>
        </p:spPr>
      </p:sp>
      <p:sp>
        <p:nvSpPr>
          <p:cNvPr id="13" name="h-macOS：商品查询与中途纠正"/>
          <p:cNvSpPr>
            <a:spLocks noGrp="1"/>
          </p:cNvSpPr>
          <p:nvPr/>
        </p:nvSpPr>
        <p:spPr>
          <a:xfrm>
            <a:off x="8229600" y="2133600"/>
            <a:ext cx="633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macOS：商品查询与中途纠正</a:t>
            </a:r>
            <a:endParaRPr sz="2325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159" y="2838450"/>
            <a:ext cx="5821008" cy="1990725"/>
          </a:xfrm>
          <a:prstGeom prst="rect">
            <a:avLst/>
          </a:prstGeom>
        </p:spPr>
      </p:pic>
      <p:sp>
        <p:nvSpPr>
          <p:cNvPr id="15" name="h-“采用这个配置即可，开始完成报告”"/>
          <p:cNvSpPr>
            <a:spLocks noGrp="1"/>
          </p:cNvSpPr>
          <p:nvPr/>
        </p:nvSpPr>
        <p:spPr>
          <a:xfrm>
            <a:off x="8248650" y="5219700"/>
            <a:ext cx="63055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0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“采用这个配置即可，开始完成报告”</a:t>
            </a:r>
            <a:endParaRPr sz="2025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6" name="b-用户在手机补充要求后"/>
          <p:cNvSpPr>
            <a:spLocks noGrp="1"/>
          </p:cNvSpPr>
          <p:nvPr/>
        </p:nvSpPr>
        <p:spPr>
          <a:xfrm>
            <a:off x="8267700" y="5715000"/>
            <a:ext cx="6276975" cy="1200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手机补充要求使旧滚动失效，Plan更新后接续文稿写入与保存。查询信息留在同一任务中，用户无需重新委托。</a:t>
            </a:r>
          </a:p>
        </p:txBody>
      </p:sp>
      <p:sp>
        <p:nvSpPr>
          <p:cNvPr id="17" name="note-过程验证：用户介"/>
          <p:cNvSpPr>
            <a:spLocks noGrp="1"/>
          </p:cNvSpPr>
          <p:nvPr/>
        </p:nvSpPr>
        <p:spPr>
          <a:xfrm>
            <a:off x="8267700" y="7229475"/>
            <a:ext cx="627697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过程验证：用户介入、旧动作失效与文稿交付。</a:t>
            </a:r>
            <a:endParaRPr sz="1650" b="0">
              <a:solidFill>
                <a:srgbClr val="687581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section"/>
          <p:cNvSpPr>
            <a:spLocks noGrp="1"/>
          </p:cNvSpPr>
          <p:nvPr/>
        </p:nvSpPr>
        <p:spPr>
          <a:xfrm>
            <a:off x="619125" y="314325"/>
            <a:ext cx="12668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03 场景覆盖与验证</a:t>
            </a:r>
            <a:endParaRPr sz="1350" b="0">
              <a:solidFill>
                <a:srgbClr val="516278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2" name="heading"/>
          <p:cNvSpPr>
            <a:spLocks noGrp="1"/>
          </p:cNvSpPr>
          <p:nvPr/>
        </p:nvSpPr>
        <p:spPr>
          <a:xfrm>
            <a:off x="619125" y="762000"/>
            <a:ext cx="1400175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defPPr>
            <a:lvl1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1pPr>
            <a:lvl2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2pPr>
            <a:lvl3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3pPr>
            <a:lvl4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4pPr>
            <a:lvl5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5pPr>
            <a:lvl6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6pPr>
            <a:lvl7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7pPr>
            <a:lvl8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8pPr>
            <a:lvl9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9pPr>
          </a:lstStyle>
          <a:p>
            <a: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pPr>
            <a:r>
              <a: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rPr>
              <a:t>六类场景与实际交付</a:t>
            </a:r>
          </a:p>
        </p:txBody>
      </p:sp>
      <p:sp>
        <p:nvSpPr>
          <p:cNvPr id="3" name="head-rule"/>
          <p:cNvSpPr>
            <a:spLocks noGrp="1"/>
          </p:cNvSpPr>
          <p:nvPr/>
        </p:nvSpPr>
        <p:spPr>
          <a:xfrm>
            <a:off x="619125" y="1619250"/>
            <a:ext cx="14001750" cy="13335"/>
          </a:xfrm>
          <a:prstGeom prst="rect">
            <a:avLst/>
          </a:prstGeom>
          <a:solidFill>
            <a:srgbClr val="B7CDE1"/>
          </a:solidFill>
          <a:ln w="0">
            <a:noFill/>
          </a:ln>
        </p:spPr>
      </p:sp>
      <p:sp>
        <p:nvSpPr>
          <p:cNvPr id="4" name="brand"/>
          <p:cNvSpPr>
            <a:spLocks noGrp="1"/>
          </p:cNvSpPr>
          <p:nvPr/>
        </p:nvSpPr>
        <p:spPr>
          <a:xfrm>
            <a:off x="619125" y="8124825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光语者  /  Lightspeaker</a:t>
            </a:r>
            <a:endParaRPr sz="1275" b="0">
              <a:solidFill>
                <a:srgbClr val="516278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5" name="page"/>
          <p:cNvSpPr>
            <a:spLocks noGrp="1"/>
          </p:cNvSpPr>
          <p:nvPr/>
        </p:nvSpPr>
        <p:spPr>
          <a:xfrm>
            <a:off x="14049375" y="80867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12</a:t>
            </a:r>
            <a:endParaRPr sz="1575" b="1">
              <a:solidFill>
                <a:srgbClr val="07357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nav-to-2">
            <a:hlinkClick r:id="rId1" action="ppaction://hlinksldjump"/>
          </p:cNvPr>
          <p:cNvSpPr>
            <a:spLocks noGrp="1"/>
          </p:cNvSpPr>
          <p:nvPr/>
        </p:nvSpPr>
        <p:spPr>
          <a:xfrm>
            <a:off x="13192125" y="8105775"/>
            <a:ext cx="6191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目录</a:t>
            </a:r>
            <a:endParaRPr sz="1350" b="0">
              <a:solidFill>
                <a:srgbClr val="516278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11413"/>
            <a:ext cx="6610350" cy="4406900"/>
          </a:xfrm>
          <a:prstGeom prst="rect">
            <a:avLst/>
          </a:prstGeom>
        </p:spPr>
      </p:pic>
      <p:sp>
        <p:nvSpPr>
          <p:cNvPr id="8" name="h-政务办事"/>
          <p:cNvSpPr>
            <a:spLocks noGrp="1"/>
          </p:cNvSpPr>
          <p:nvPr/>
        </p:nvSpPr>
        <p:spPr>
          <a:xfrm>
            <a:off x="7915275" y="2200275"/>
            <a:ext cx="223837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政务办事</a:t>
            </a:r>
            <a:endParaRPr sz="1875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9" name="b-敬老卡资格与家属代办"/>
          <p:cNvSpPr>
            <a:spLocks noGrp="1"/>
          </p:cNvSpPr>
          <p:nvPr/>
        </p:nvSpPr>
        <p:spPr>
          <a:xfrm>
            <a:off x="10115550" y="2219325"/>
            <a:ext cx="447675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官方规则答复、津贴提示文档</a:t>
            </a:r>
          </a:p>
        </p:txBody>
      </p:sp>
      <p:sp>
        <p:nvSpPr>
          <p:cNvPr id="10" name="task-row0"/>
          <p:cNvSpPr>
            <a:spLocks noGrp="1"/>
          </p:cNvSpPr>
          <p:nvPr/>
        </p:nvSpPr>
        <p:spPr>
          <a:xfrm>
            <a:off x="7905750" y="2781300"/>
            <a:ext cx="6667500" cy="13335"/>
          </a:xfrm>
          <a:prstGeom prst="rect">
            <a:avLst/>
          </a:prstGeom>
          <a:solidFill>
            <a:srgbClr val="C9D0D6"/>
          </a:solidFill>
          <a:ln w="0">
            <a:noFill/>
          </a:ln>
        </p:spPr>
      </p:sp>
      <p:sp>
        <p:nvSpPr>
          <p:cNvPr id="11" name="h-就医准备"/>
          <p:cNvSpPr>
            <a:spLocks noGrp="1"/>
          </p:cNvSpPr>
          <p:nvPr/>
        </p:nvSpPr>
        <p:spPr>
          <a:xfrm>
            <a:off x="7915275" y="2933700"/>
            <a:ext cx="223837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就医准备</a:t>
            </a:r>
            <a:endParaRPr sz="1875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2" name="b-电话预约、院区与到院"/>
          <p:cNvSpPr>
            <a:spLocks noGrp="1"/>
          </p:cNvSpPr>
          <p:nvPr/>
        </p:nvSpPr>
        <p:spPr>
          <a:xfrm>
            <a:off x="10115550" y="2952750"/>
            <a:ext cx="447675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科室位置说明、微信交通备忘</a:t>
            </a:r>
          </a:p>
        </p:txBody>
      </p:sp>
      <p:sp>
        <p:nvSpPr>
          <p:cNvPr id="13" name="task-row1"/>
          <p:cNvSpPr>
            <a:spLocks noGrp="1"/>
          </p:cNvSpPr>
          <p:nvPr/>
        </p:nvSpPr>
        <p:spPr>
          <a:xfrm>
            <a:off x="7905750" y="3514725"/>
            <a:ext cx="6667500" cy="13335"/>
          </a:xfrm>
          <a:prstGeom prst="rect">
            <a:avLst/>
          </a:prstGeom>
          <a:solidFill>
            <a:srgbClr val="C9D0D6"/>
          </a:solidFill>
          <a:ln w="0">
            <a:noFill/>
          </a:ln>
        </p:spPr>
      </p:sp>
      <p:sp>
        <p:nvSpPr>
          <p:cNvPr id="14" name="h-购物售后"/>
          <p:cNvSpPr>
            <a:spLocks noGrp="1"/>
          </p:cNvSpPr>
          <p:nvPr/>
        </p:nvSpPr>
        <p:spPr>
          <a:xfrm>
            <a:off x="7915275" y="3667125"/>
            <a:ext cx="223837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购物售后</a:t>
            </a:r>
            <a:endParaRPr sz="1875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5" name="b-购买渠道、退货时限与"/>
          <p:cNvSpPr>
            <a:spLocks noGrp="1"/>
          </p:cNvSpPr>
          <p:nvPr/>
        </p:nvSpPr>
        <p:spPr>
          <a:xfrm>
            <a:off x="10115550" y="3686175"/>
            <a:ext cx="447675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预算选购建议、退货备忘文稿</a:t>
            </a:r>
          </a:p>
        </p:txBody>
      </p:sp>
      <p:sp>
        <p:nvSpPr>
          <p:cNvPr id="16" name="task-row2"/>
          <p:cNvSpPr>
            <a:spLocks noGrp="1"/>
          </p:cNvSpPr>
          <p:nvPr/>
        </p:nvSpPr>
        <p:spPr>
          <a:xfrm>
            <a:off x="7905750" y="4248150"/>
            <a:ext cx="6667500" cy="13335"/>
          </a:xfrm>
          <a:prstGeom prst="rect">
            <a:avLst/>
          </a:prstGeom>
          <a:solidFill>
            <a:srgbClr val="C9D0D6"/>
          </a:solidFill>
          <a:ln w="0">
            <a:noFill/>
          </a:ln>
        </p:spPr>
      </p:sp>
      <p:sp>
        <p:nvSpPr>
          <p:cNvPr id="17" name="h-出行票务"/>
          <p:cNvSpPr>
            <a:spLocks noGrp="1"/>
          </p:cNvSpPr>
          <p:nvPr/>
        </p:nvSpPr>
        <p:spPr>
          <a:xfrm>
            <a:off x="7915275" y="4400550"/>
            <a:ext cx="223837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出行票务</a:t>
            </a:r>
            <a:endParaRPr sz="1875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8" name="b-多条件查票与微信交付"/>
          <p:cNvSpPr>
            <a:spLocks noGrp="1"/>
          </p:cNvSpPr>
          <p:nvPr/>
        </p:nvSpPr>
        <p:spPr>
          <a:xfrm>
            <a:off x="10115550" y="4419600"/>
            <a:ext cx="447675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时段车次比较、路线与微信交付</a:t>
            </a:r>
          </a:p>
        </p:txBody>
      </p:sp>
      <p:sp>
        <p:nvSpPr>
          <p:cNvPr id="19" name="task-row3"/>
          <p:cNvSpPr>
            <a:spLocks noGrp="1"/>
          </p:cNvSpPr>
          <p:nvPr/>
        </p:nvSpPr>
        <p:spPr>
          <a:xfrm>
            <a:off x="7905750" y="4981575"/>
            <a:ext cx="6667500" cy="13335"/>
          </a:xfrm>
          <a:prstGeom prst="rect">
            <a:avLst/>
          </a:prstGeom>
          <a:solidFill>
            <a:srgbClr val="C9D0D6"/>
          </a:solidFill>
          <a:ln w="0">
            <a:noFill/>
          </a:ln>
        </p:spPr>
      </p:sp>
      <p:sp>
        <p:nvSpPr>
          <p:cNvPr id="20" name="h-缴费与社区"/>
          <p:cNvSpPr>
            <a:spLocks noGrp="1"/>
          </p:cNvSpPr>
          <p:nvPr/>
        </p:nvSpPr>
        <p:spPr>
          <a:xfrm>
            <a:off x="7915275" y="5133975"/>
            <a:ext cx="223837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缴费与社区</a:t>
            </a:r>
            <a:endParaRPr sz="1875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1" name="b-燃气价格和账单信息核"/>
          <p:cNvSpPr>
            <a:spLocks noGrp="1"/>
          </p:cNvSpPr>
          <p:nvPr/>
        </p:nvSpPr>
        <p:spPr>
          <a:xfrm>
            <a:off x="10115550" y="5153025"/>
            <a:ext cx="447675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电价构成、跨档费用及地址核对</a:t>
            </a:r>
          </a:p>
        </p:txBody>
      </p:sp>
      <p:sp>
        <p:nvSpPr>
          <p:cNvPr id="22" name="task-row4"/>
          <p:cNvSpPr>
            <a:spLocks noGrp="1"/>
          </p:cNvSpPr>
          <p:nvPr/>
        </p:nvSpPr>
        <p:spPr>
          <a:xfrm>
            <a:off x="7905750" y="5715000"/>
            <a:ext cx="6667500" cy="13335"/>
          </a:xfrm>
          <a:prstGeom prst="rect">
            <a:avLst/>
          </a:prstGeom>
          <a:solidFill>
            <a:srgbClr val="C9D0D6"/>
          </a:solidFill>
          <a:ln w="0">
            <a:noFill/>
          </a:ln>
        </p:spPr>
      </p:sp>
      <p:sp>
        <p:nvSpPr>
          <p:cNvPr id="23" name="h-通信事务"/>
          <p:cNvSpPr>
            <a:spLocks noGrp="1"/>
          </p:cNvSpPr>
          <p:nvPr/>
        </p:nvSpPr>
        <p:spPr>
          <a:xfrm>
            <a:off x="7915275" y="5867400"/>
            <a:ext cx="223837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8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通信事务</a:t>
            </a:r>
            <a:endParaRPr sz="1875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4" name="b-重复日程、提醒与内容"/>
          <p:cNvSpPr>
            <a:spLocks noGrp="1"/>
          </p:cNvSpPr>
          <p:nvPr/>
        </p:nvSpPr>
        <p:spPr>
          <a:xfrm>
            <a:off x="10115550" y="5886450"/>
            <a:ext cx="447675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待办、微信备忘、修改后重开文稿</a:t>
            </a:r>
          </a:p>
        </p:txBody>
      </p:sp>
      <p:sp>
        <p:nvSpPr>
          <p:cNvPr id="25" name="task-row5"/>
          <p:cNvSpPr>
            <a:spLocks noGrp="1"/>
          </p:cNvSpPr>
          <p:nvPr/>
        </p:nvSpPr>
        <p:spPr>
          <a:xfrm>
            <a:off x="7905750" y="6448425"/>
            <a:ext cx="6667500" cy="13335"/>
          </a:xfrm>
          <a:prstGeom prst="rect">
            <a:avLst/>
          </a:prstGeom>
          <a:solidFill>
            <a:srgbClr val="C9D0D6"/>
          </a:solidFill>
          <a:ln w="0">
            <a:noFill/>
          </a:ln>
        </p:spPr>
      </p:sp>
      <p:sp>
        <p:nvSpPr>
          <p:cNvPr id="26" name="validation-line"/>
          <p:cNvSpPr>
            <a:spLocks noGrp="1"/>
          </p:cNvSpPr>
          <p:nvPr/>
        </p:nvSpPr>
        <p:spPr>
          <a:xfrm>
            <a:off x="723900" y="7096125"/>
            <a:ext cx="13868400" cy="13335"/>
          </a:xfrm>
          <a:prstGeom prst="rect">
            <a:avLst/>
          </a:prstGeom>
          <a:solidFill>
            <a:srgbClr val="B8CCE2"/>
          </a:solidFill>
          <a:ln w="0">
            <a:noFill/>
          </a:ln>
        </p:spPr>
      </p:sp>
      <p:sp>
        <p:nvSpPr>
          <p:cNvPr id="27" name="b-28张明确任务卡  "/>
          <p:cNvSpPr>
            <a:spLocks noGrp="1"/>
          </p:cNvSpPr>
          <p:nvPr/>
        </p:nvSpPr>
        <p:spPr>
          <a:xfrm>
            <a:off x="752475" y="7400925"/>
            <a:ext cx="13716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20项通过任务已公开  ·  Windows / macOS  ·  轨迹、截图与交付内容可核验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section"/>
          <p:cNvSpPr>
            <a:spLocks noGrp="1"/>
          </p:cNvSpPr>
          <p:nvPr/>
        </p:nvSpPr>
        <p:spPr>
          <a:xfrm>
            <a:off x="619125" y="314325"/>
            <a:ext cx="12668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开源生态</a:t>
            </a:r>
            <a:endParaRPr sz="1350" b="0">
              <a:solidFill>
                <a:srgbClr val="516278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2" name="heading"/>
          <p:cNvSpPr>
            <a:spLocks noGrp="1"/>
          </p:cNvSpPr>
          <p:nvPr/>
        </p:nvSpPr>
        <p:spPr>
          <a:xfrm>
            <a:off x="619125" y="762000"/>
            <a:ext cx="1400175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defPPr>
            <a:lvl1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1pPr>
            <a:lvl2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2pPr>
            <a:lvl3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3pPr>
            <a:lvl4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4pPr>
            <a:lvl5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5pPr>
            <a:lvl6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6pPr>
            <a:lvl7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7pPr>
            <a:lvl8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8pPr>
            <a:lvl9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9pPr>
          </a:lstStyle>
          <a:p>
            <a: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pPr>
            <a:r>
              <a: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rPr>
              <a:t>开源贡献与后续协作</a:t>
            </a:r>
            <a:endParaRPr sz="3450" b="1">
              <a:solidFill>
                <a:srgbClr val="073570"/>
              </a:solidFill>
              <a:latin typeface="STSong" panose="02010600040101010101" charset="-122"/>
              <a:ea typeface="STSong" panose="02010600040101010101" charset="-122"/>
              <a:cs typeface="STSong" panose="02010600040101010101" charset="-122"/>
            </a:endParaRPr>
          </a:p>
        </p:txBody>
      </p:sp>
      <p:sp>
        <p:nvSpPr>
          <p:cNvPr id="3" name="head-rule"/>
          <p:cNvSpPr>
            <a:spLocks noGrp="1"/>
          </p:cNvSpPr>
          <p:nvPr/>
        </p:nvSpPr>
        <p:spPr>
          <a:xfrm>
            <a:off x="619125" y="1619250"/>
            <a:ext cx="14001750" cy="13335"/>
          </a:xfrm>
          <a:prstGeom prst="rect">
            <a:avLst/>
          </a:prstGeom>
          <a:solidFill>
            <a:srgbClr val="B7CDE1"/>
          </a:solidFill>
          <a:ln w="0">
            <a:noFill/>
          </a:ln>
        </p:spPr>
      </p:sp>
      <p:sp>
        <p:nvSpPr>
          <p:cNvPr id="4" name="brand"/>
          <p:cNvSpPr>
            <a:spLocks noGrp="1"/>
          </p:cNvSpPr>
          <p:nvPr/>
        </p:nvSpPr>
        <p:spPr>
          <a:xfrm>
            <a:off x="619125" y="8124825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光语者  /  Lightspeaker</a:t>
            </a:r>
            <a:endParaRPr sz="1275" b="0">
              <a:solidFill>
                <a:srgbClr val="516278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5" name="page"/>
          <p:cNvSpPr>
            <a:spLocks noGrp="1"/>
          </p:cNvSpPr>
          <p:nvPr/>
        </p:nvSpPr>
        <p:spPr>
          <a:xfrm>
            <a:off x="14049375" y="80867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13</a:t>
            </a:r>
            <a:endParaRPr sz="1575" b="1">
              <a:solidFill>
                <a:srgbClr val="07357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nav-to-2">
            <a:hlinkClick r:id="rId1" action="ppaction://hlinksldjump"/>
          </p:cNvPr>
          <p:cNvSpPr>
            <a:spLocks noGrp="1"/>
          </p:cNvSpPr>
          <p:nvPr/>
        </p:nvSpPr>
        <p:spPr>
          <a:xfrm>
            <a:off x="13192125" y="8105775"/>
            <a:ext cx="6191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目录</a:t>
            </a:r>
            <a:endParaRPr sz="1350" b="0">
              <a:solidFill>
                <a:srgbClr val="516278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7" name="h-CUA：真实输入问题与上游修复"/>
          <p:cNvSpPr>
            <a:spLocks noGrp="1"/>
          </p:cNvSpPr>
          <p:nvPr/>
        </p:nvSpPr>
        <p:spPr>
          <a:xfrm>
            <a:off x="742950" y="2114550"/>
            <a:ext cx="1366837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4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4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4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4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4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4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4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4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4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4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4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开源 CUA：从真实输入问题到上游修复</a:t>
            </a:r>
          </a:p>
        </p:txBody>
      </p:sp>
      <p:sp>
        <p:nvSpPr>
          <p:cNvPr id="8" name="h-#4500 已合并"/>
          <p:cNvSpPr>
            <a:spLocks noGrp="1"/>
          </p:cNvSpPr>
          <p:nvPr/>
        </p:nvSpPr>
        <p:spPr>
          <a:xfrm>
            <a:off x="771525" y="2762250"/>
            <a:ext cx="66770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1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1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1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1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1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1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1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1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1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1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1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#4500 已合并</a:t>
            </a:r>
            <a:endParaRPr sz="2100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9" name="b-独立复现、WPF /"/>
          <p:cNvSpPr>
            <a:spLocks noGrp="1"/>
          </p:cNvSpPr>
          <p:nvPr/>
        </p:nvSpPr>
        <p:spPr>
          <a:xfrm>
            <a:off x="790575" y="3238500"/>
            <a:ext cx="6619875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与维护者共同验证输入队列及焦点恢复修复。</a:t>
            </a:r>
            <a:endParaRPr sz="1950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10" name="h-#4836 → #5587 已合并"/>
          <p:cNvSpPr>
            <a:spLocks noGrp="1"/>
          </p:cNvSpPr>
          <p:nvPr/>
        </p:nvSpPr>
        <p:spPr>
          <a:xfrm>
            <a:off x="7943850" y="2762250"/>
            <a:ext cx="66770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1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1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1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1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1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1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1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1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1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1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1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#4836 → #5587 已合并</a:t>
            </a:r>
            <a:endParaRPr sz="2100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1" name="b-团队提供文稿输入方案"/>
          <p:cNvSpPr>
            <a:spLocks noGrp="1"/>
          </p:cNvSpPr>
          <p:nvPr/>
        </p:nvSpPr>
        <p:spPr>
          <a:xfrm>
            <a:off x="7962900" y="3238500"/>
            <a:ext cx="6619875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团队提供文稿输入方案与验证；</a:t>
            </a:r>
            <a:endParaRPr sz="1950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  <a:p>
            <a:pPr algn="l">
              <a:def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维护者接续整合，保留团队署名。</a:t>
            </a:r>
            <a:endParaRPr sz="1950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12" name="opensource-sep"/>
          <p:cNvSpPr>
            <a:spLocks noGrp="1"/>
          </p:cNvSpPr>
          <p:nvPr/>
        </p:nvSpPr>
        <p:spPr>
          <a:xfrm>
            <a:off x="752475" y="4486275"/>
            <a:ext cx="13763625" cy="13335"/>
          </a:xfrm>
          <a:prstGeom prst="rect">
            <a:avLst/>
          </a:prstGeom>
          <a:solidFill>
            <a:srgbClr val="B8CCE2"/>
          </a:solidFill>
          <a:ln w="0">
            <a:noFill/>
          </a:ln>
        </p:spPr>
      </p:sp>
      <p:sp>
        <p:nvSpPr>
          <p:cNvPr id="13" name="h-OpenGCUA：探索更高效的任务执行机制"/>
          <p:cNvSpPr>
            <a:spLocks noGrp="1"/>
          </p:cNvSpPr>
          <p:nvPr/>
        </p:nvSpPr>
        <p:spPr>
          <a:xfrm>
            <a:off x="752475" y="4762500"/>
            <a:ext cx="136683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32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OpenGCUA：Windows 适配与执行机制探索</a:t>
            </a:r>
          </a:p>
        </p:txBody>
      </p:sp>
      <p:sp>
        <p:nvSpPr>
          <p:cNvPr id="14" name="b-结合GUI交互与程序"/>
          <p:cNvSpPr>
            <a:spLocks noGrp="1"/>
          </p:cNvSpPr>
          <p:nvPr/>
        </p:nvSpPr>
        <p:spPr>
          <a:xfrm>
            <a:off x="790575" y="5267325"/>
            <a:ext cx="136207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已提交 SDK / CUA 映射与平台设计，公开浏览器、Excel、Word 初步实验。</a:t>
            </a:r>
          </a:p>
          <a:p>
            <a: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95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结合结构化控件操作与程序化执行，探索减少长任务中的重复模型请求。</a:t>
            </a:r>
          </a:p>
        </p:txBody>
      </p:sp>
      <p:sp>
        <p:nvSpPr>
          <p:cNvPr id="15" name="b-Windows支持提"/>
          <p:cNvSpPr>
            <a:spLocks noGrp="1"/>
          </p:cNvSpPr>
          <p:nvPr/>
        </p:nvSpPr>
        <p:spPr>
          <a:xfrm>
            <a:off x="752475" y="6296025"/>
            <a:ext cx="1366837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2325" b="1">
                <a:solidFill>
                  <a:srgbClr val="084C9B"/>
                </a:solidFill>
                <a:latin typeface="Microsoft YaHei" panose="02010600030101010101" charset="-122"/>
                <a:ea typeface="Microsoft YaHei" panose="02010600030101010101" charset="-122"/>
                <a:cs typeface="DengXian" panose="02010600030101010101" charset="-122"/>
              </a:rPr>
              <a:t>XERJ Corpus Hub：项目源码获收录</a:t>
            </a:r>
          </a:p>
        </p:txBody>
      </p:sp>
      <p:sp>
        <p:nvSpPr>
          <p:cNvPr id="16" name="claw-sep"/>
          <p:cNvSpPr>
            <a:spLocks noGrp="1"/>
          </p:cNvSpPr>
          <p:nvPr/>
        </p:nvSpPr>
        <p:spPr>
          <a:xfrm>
            <a:off x="762000" y="7458075"/>
            <a:ext cx="13716000" cy="13335"/>
          </a:xfrm>
          <a:prstGeom prst="rect">
            <a:avLst/>
          </a:prstGeom>
          <a:solidFill>
            <a:srgbClr val="B8CCE2"/>
          </a:solidFill>
          <a:ln w="0">
            <a:noFill/>
          </a:ln>
        </p:spPr>
      </p:sp>
      <p:sp>
        <p:nvSpPr>
          <p:cNvPr id="17" name="note-其他已合并贡献："/>
          <p:cNvSpPr>
            <a:spLocks noGrp="1"/>
          </p:cNvSpPr>
          <p:nvPr/>
        </p:nvSpPr>
        <p:spPr>
          <a:xfrm>
            <a:off x="790575" y="7639050"/>
            <a:ext cx="1362075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650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其他已合并贡献：OpenClaw的Computer资源生命周期、Windows重复设备审批。</a:t>
            </a:r>
            <a:endParaRPr sz="1650" b="0">
              <a:solidFill>
                <a:srgbClr val="687581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60" name="updated-text-60"/>
          <p:cNvSpPr>
            <a:spLocks noGrp="1"/>
          </p:cNvSpPr>
          <p:nvPr/>
        </p:nvSpPr>
        <p:spPr>
          <a:xfrm>
            <a:off x="790575" y="6800850"/>
            <a:ext cx="136207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202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团队成员的权限保留与模型服务预检实现纳入源码参考，保留作者及许可信息，供编程智能体检索复用。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5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section"/>
          <p:cNvSpPr>
            <a:spLocks noGrp="1"/>
          </p:cNvSpPr>
          <p:nvPr/>
        </p:nvSpPr>
        <p:spPr>
          <a:xfrm>
            <a:off x="619125" y="314325"/>
            <a:ext cx="12668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350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350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350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350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350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350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350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350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350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350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350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光语者 · LIGHTSPEAKER</a:t>
            </a:r>
            <a:endParaRPr sz="1350" b="0">
              <a:solidFill>
                <a:srgbClr val="B7D4EC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2" name="heading"/>
          <p:cNvSpPr>
            <a:spLocks noGrp="1"/>
          </p:cNvSpPr>
          <p:nvPr/>
        </p:nvSpPr>
        <p:spPr>
          <a:xfrm>
            <a:off x="619125" y="762000"/>
            <a:ext cx="1400175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450" b="1">
                <a:solidFill>
                  <a:srgbClr val="FFFFFF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defPPr>
            <a:lvl1pPr algn="l">
              <a:defRPr sz="3450" b="1">
                <a:solidFill>
                  <a:srgbClr val="FFFFFF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1pPr>
            <a:lvl2pPr algn="l">
              <a:defRPr sz="3450" b="1">
                <a:solidFill>
                  <a:srgbClr val="FFFFFF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2pPr>
            <a:lvl3pPr algn="l">
              <a:defRPr sz="3450" b="1">
                <a:solidFill>
                  <a:srgbClr val="FFFFFF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3pPr>
            <a:lvl4pPr algn="l">
              <a:defRPr sz="3450" b="1">
                <a:solidFill>
                  <a:srgbClr val="FFFFFF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4pPr>
            <a:lvl5pPr algn="l">
              <a:defRPr sz="3450" b="1">
                <a:solidFill>
                  <a:srgbClr val="FFFFFF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5pPr>
            <a:lvl6pPr algn="l">
              <a:defRPr sz="3450" b="1">
                <a:solidFill>
                  <a:srgbClr val="FFFFFF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6pPr>
            <a:lvl7pPr algn="l">
              <a:defRPr sz="3450" b="1">
                <a:solidFill>
                  <a:srgbClr val="FFFFFF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7pPr>
            <a:lvl8pPr algn="l">
              <a:defRPr sz="3450" b="1">
                <a:solidFill>
                  <a:srgbClr val="FFFFFF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8pPr>
            <a:lvl9pPr algn="l">
              <a:defRPr sz="3450" b="1">
                <a:solidFill>
                  <a:srgbClr val="FFFFFF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9pPr>
          </a:lstStyle>
          <a:p>
            <a:pPr algn="l">
              <a:defRPr sz="3450" b="1">
                <a:solidFill>
                  <a:srgbClr val="FFFFFF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pPr>
            <a:r>
              <a:rPr sz="3450" b="1">
                <a:solidFill>
                  <a:srgbClr val="FFFFFF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rPr>
              <a:t>光语者：手机协同桌面智能体</a:t>
            </a:r>
            <a:endParaRPr sz="3450" b="1">
              <a:solidFill>
                <a:srgbClr val="FFFFFF"/>
              </a:solidFill>
              <a:latin typeface="STSong" panose="02010600040101010101" charset="-122"/>
              <a:ea typeface="STSong" panose="02010600040101010101" charset="-122"/>
              <a:cs typeface="STSong" panose="02010600040101010101" charset="-122"/>
            </a:endParaRPr>
          </a:p>
        </p:txBody>
      </p:sp>
      <p:sp>
        <p:nvSpPr>
          <p:cNvPr id="3" name="head-rule"/>
          <p:cNvSpPr>
            <a:spLocks noGrp="1"/>
          </p:cNvSpPr>
          <p:nvPr/>
        </p:nvSpPr>
        <p:spPr>
          <a:xfrm>
            <a:off x="619125" y="1619250"/>
            <a:ext cx="14001750" cy="13335"/>
          </a:xfrm>
          <a:prstGeom prst="rect">
            <a:avLst/>
          </a:prstGeom>
          <a:solidFill>
            <a:srgbClr val="527DA4"/>
          </a:solidFill>
          <a:ln w="0">
            <a:noFill/>
          </a:ln>
        </p:spPr>
      </p:sp>
      <p:sp>
        <p:nvSpPr>
          <p:cNvPr id="4" name="brand"/>
          <p:cNvSpPr>
            <a:spLocks noGrp="1"/>
          </p:cNvSpPr>
          <p:nvPr/>
        </p:nvSpPr>
        <p:spPr>
          <a:xfrm>
            <a:off x="619125" y="8124825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75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275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275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275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275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275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275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275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275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275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275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275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光语者  /  Lightspeaker</a:t>
            </a:r>
            <a:endParaRPr sz="1275" b="0">
              <a:solidFill>
                <a:srgbClr val="B7D4EC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5" name="page"/>
          <p:cNvSpPr>
            <a:spLocks noGrp="1"/>
          </p:cNvSpPr>
          <p:nvPr/>
        </p:nvSpPr>
        <p:spPr>
          <a:xfrm>
            <a:off x="14049375" y="80867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5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r">
              <a:defRPr sz="15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r">
              <a:defRPr sz="15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r">
              <a:defRPr sz="15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r">
              <a:defRPr sz="15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r">
              <a:defRPr sz="15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r">
              <a:defRPr sz="15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r">
              <a:defRPr sz="15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r">
              <a:defRPr sz="15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r">
              <a:defRPr sz="15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r">
              <a:defRPr sz="15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14</a:t>
            </a:r>
            <a:endParaRPr sz="1575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nav-to-2">
            <a:hlinkClick r:id="rId1" action="ppaction://hlinksldjump"/>
          </p:cNvPr>
          <p:cNvSpPr>
            <a:spLocks noGrp="1"/>
          </p:cNvSpPr>
          <p:nvPr/>
        </p:nvSpPr>
        <p:spPr>
          <a:xfrm>
            <a:off x="13192125" y="8105775"/>
            <a:ext cx="6191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350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350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350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350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350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350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350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350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350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350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350" b="0">
                <a:solidFill>
                  <a:srgbClr val="B7D4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目录</a:t>
            </a:r>
            <a:endParaRPr sz="1350" b="0">
              <a:solidFill>
                <a:srgbClr val="B7D4EC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7" name="closing-art"/>
          <p:cNvSpPr>
            <a:spLocks noGrp="1"/>
          </p:cNvSpPr>
          <p:nvPr/>
        </p:nvSpPr>
        <p:spPr>
          <a:xfrm>
            <a:off x="762000" y="2505075"/>
            <a:ext cx="137160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5250" b="0">
                <a:solidFill>
                  <a:srgbClr val="FFFFFF"/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</a:defRPr>
            </a:defPPr>
            <a:lvl1pPr algn="l">
              <a:defRPr sz="5250" b="0">
                <a:solidFill>
                  <a:srgbClr val="FFFFFF"/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</a:defRPr>
            </a:lvl1pPr>
            <a:lvl2pPr algn="l">
              <a:defRPr sz="5250" b="0">
                <a:solidFill>
                  <a:srgbClr val="FFFFFF"/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</a:defRPr>
            </a:lvl2pPr>
            <a:lvl3pPr algn="l">
              <a:defRPr sz="5250" b="0">
                <a:solidFill>
                  <a:srgbClr val="FFFFFF"/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</a:defRPr>
            </a:lvl3pPr>
            <a:lvl4pPr algn="l">
              <a:defRPr sz="5250" b="0">
                <a:solidFill>
                  <a:srgbClr val="FFFFFF"/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</a:defRPr>
            </a:lvl4pPr>
            <a:lvl5pPr algn="l">
              <a:defRPr sz="5250" b="0">
                <a:solidFill>
                  <a:srgbClr val="FFFFFF"/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</a:defRPr>
            </a:lvl5pPr>
            <a:lvl6pPr algn="l">
              <a:defRPr sz="5250" b="0">
                <a:solidFill>
                  <a:srgbClr val="FFFFFF"/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</a:defRPr>
            </a:lvl6pPr>
            <a:lvl7pPr algn="l">
              <a:defRPr sz="5250" b="0">
                <a:solidFill>
                  <a:srgbClr val="FFFFFF"/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</a:defRPr>
            </a:lvl7pPr>
            <a:lvl8pPr algn="l">
              <a:defRPr sz="5250" b="0">
                <a:solidFill>
                  <a:srgbClr val="FFFFFF"/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</a:defRPr>
            </a:lvl8pPr>
            <a:lvl9pPr algn="l">
              <a:defRPr sz="5250" b="0">
                <a:solidFill>
                  <a:srgbClr val="FFFFFF"/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</a:defRPr>
            </a:lvl9pPr>
          </a:lstStyle>
          <a:p>
            <a:pPr algn="l">
              <a:defRPr sz="5250" b="0">
                <a:solidFill>
                  <a:srgbClr val="FFFFFF"/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</a:defRPr>
            </a:pPr>
            <a:r>
              <a:rPr sz="5250" b="0">
                <a:solidFill>
                  <a:srgbClr val="FFFFFF"/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</a:rPr>
              <a:t>让 Agent 适应使用者</a:t>
            </a:r>
            <a:endParaRPr sz="5250" b="0">
              <a:solidFill>
                <a:srgbClr val="FFFFFF"/>
              </a:solidFill>
              <a:latin typeface="STKaiti" panose="02010600040101010101" charset="-122"/>
              <a:ea typeface="STKaiti" panose="02010600040101010101" charset="-122"/>
              <a:cs typeface="STKaiti" panose="02010600040101010101" charset="-122"/>
            </a:endParaRPr>
          </a:p>
        </p:txBody>
      </p:sp>
      <p:sp>
        <p:nvSpPr>
          <p:cNvPr id="8" name="closing-main"/>
          <p:cNvSpPr>
            <a:spLocks noGrp="1"/>
          </p:cNvSpPr>
          <p:nvPr/>
        </p:nvSpPr>
        <p:spPr>
          <a:xfrm>
            <a:off x="819150" y="4010025"/>
            <a:ext cx="13620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925" b="0">
                <a:solidFill>
                  <a:srgbClr val="DAE9F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2925" b="0">
                <a:solidFill>
                  <a:srgbClr val="DAE9F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2925" b="0">
                <a:solidFill>
                  <a:srgbClr val="DAE9F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2925" b="0">
                <a:solidFill>
                  <a:srgbClr val="DAE9F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2925" b="0">
                <a:solidFill>
                  <a:srgbClr val="DAE9F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2925" b="0">
                <a:solidFill>
                  <a:srgbClr val="DAE9F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2925" b="0">
                <a:solidFill>
                  <a:srgbClr val="DAE9F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2925" b="0">
                <a:solidFill>
                  <a:srgbClr val="DAE9F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2925" b="0">
                <a:solidFill>
                  <a:srgbClr val="DAE9F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2925" b="0">
                <a:solidFill>
                  <a:srgbClr val="DAE9F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2925" b="0">
                <a:solidFill>
                  <a:srgbClr val="DAE9F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2925" b="0">
                <a:solidFill>
                  <a:srgbClr val="DAE9F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手机表达需求，电脑完成操作，用户掌握过程。</a:t>
            </a:r>
            <a:endParaRPr sz="2925" b="0">
              <a:solidFill>
                <a:srgbClr val="DAE9F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9" name="closing-rule"/>
          <p:cNvSpPr>
            <a:spLocks noGrp="1"/>
          </p:cNvSpPr>
          <p:nvPr/>
        </p:nvSpPr>
        <p:spPr>
          <a:xfrm>
            <a:off x="819150" y="5172075"/>
            <a:ext cx="13477875" cy="13335"/>
          </a:xfrm>
          <a:prstGeom prst="rect">
            <a:avLst/>
          </a:prstGeom>
          <a:solidFill>
            <a:srgbClr val="6388A9"/>
          </a:solidFill>
          <a:ln w="0">
            <a:noFill/>
          </a:ln>
        </p:spPr>
      </p:sp>
      <p:sp>
        <p:nvSpPr>
          <p:cNvPr id="10" name="c-h0"/>
          <p:cNvSpPr>
            <a:spLocks noGrp="1"/>
          </p:cNvSpPr>
          <p:nvPr/>
        </p:nvSpPr>
        <p:spPr>
          <a:xfrm>
            <a:off x="828675" y="5676900"/>
            <a:ext cx="4333875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4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4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4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4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4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4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4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4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4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4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4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产品</a:t>
            </a:r>
            <a:endParaRPr sz="2475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1" name="c-t0"/>
          <p:cNvSpPr>
            <a:spLocks noGrp="1"/>
          </p:cNvSpPr>
          <p:nvPr/>
        </p:nvSpPr>
        <p:spPr>
          <a:xfrm>
            <a:off x="828675" y="6353175"/>
            <a:ext cx="4305300" cy="885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0">
                <a:solidFill>
                  <a:srgbClr val="C4DA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2100" b="0">
                <a:solidFill>
                  <a:srgbClr val="C4DA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2100" b="0">
                <a:solidFill>
                  <a:srgbClr val="C4DA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2100" b="0">
                <a:solidFill>
                  <a:srgbClr val="C4DA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2100" b="0">
                <a:solidFill>
                  <a:srgbClr val="C4DA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2100" b="0">
                <a:solidFill>
                  <a:srgbClr val="C4DA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2100" b="0">
                <a:solidFill>
                  <a:srgbClr val="C4DA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2100" b="0">
                <a:solidFill>
                  <a:srgbClr val="C4DA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2100" b="0">
                <a:solidFill>
                  <a:srgbClr val="C4DA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2100" b="0">
                <a:solidFill>
                  <a:srgbClr val="C4DA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2100" b="0">
                <a:solidFill>
                  <a:srgbClr val="C4DA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2100" b="0">
                <a:solidFill>
                  <a:srgbClr val="C4DA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语音、旁白、个性化与手机控制</a:t>
            </a:r>
            <a:endParaRPr sz="2100" b="0">
              <a:solidFill>
                <a:srgbClr val="C4DAEC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12" name="c-h1"/>
          <p:cNvSpPr>
            <a:spLocks noGrp="1"/>
          </p:cNvSpPr>
          <p:nvPr/>
        </p:nvSpPr>
        <p:spPr>
          <a:xfrm>
            <a:off x="5505450" y="5676900"/>
            <a:ext cx="4333875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4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4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4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4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4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4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4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4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4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4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4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技术</a:t>
            </a:r>
            <a:endParaRPr sz="2475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3" name="c-t1"/>
          <p:cNvSpPr>
            <a:spLocks noGrp="1"/>
          </p:cNvSpPr>
          <p:nvPr/>
        </p:nvSpPr>
        <p:spPr>
          <a:xfrm>
            <a:off x="5505450" y="6353175"/>
            <a:ext cx="4305300" cy="885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0">
                <a:solidFill>
                  <a:srgbClr val="C4DA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2100" b="0">
                <a:solidFill>
                  <a:srgbClr val="C4DA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2100" b="0">
                <a:solidFill>
                  <a:srgbClr val="C4DA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2100" b="0">
                <a:solidFill>
                  <a:srgbClr val="C4DA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2100" b="0">
                <a:solidFill>
                  <a:srgbClr val="C4DA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2100" b="0">
                <a:solidFill>
                  <a:srgbClr val="C4DA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2100" b="0">
                <a:solidFill>
                  <a:srgbClr val="C4DA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2100" b="0">
                <a:solidFill>
                  <a:srgbClr val="C4DA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2100" b="0">
                <a:solidFill>
                  <a:srgbClr val="C4DA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2100" b="0">
                <a:solidFill>
                  <a:srgbClr val="C4DA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2100" b="0">
                <a:solidFill>
                  <a:srgbClr val="C4DA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2100" b="0">
                <a:solidFill>
                  <a:srgbClr val="C4DA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自主Harness组织长任务与执行核对</a:t>
            </a:r>
            <a:endParaRPr sz="2100" b="0">
              <a:solidFill>
                <a:srgbClr val="C4DAEC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14" name="c-h2"/>
          <p:cNvSpPr>
            <a:spLocks noGrp="1"/>
          </p:cNvSpPr>
          <p:nvPr/>
        </p:nvSpPr>
        <p:spPr>
          <a:xfrm>
            <a:off x="10182225" y="5676900"/>
            <a:ext cx="4333875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4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4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4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4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4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4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4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4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4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4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4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开源</a:t>
            </a:r>
            <a:endParaRPr sz="2475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5" name="c-t2"/>
          <p:cNvSpPr>
            <a:spLocks noGrp="1"/>
          </p:cNvSpPr>
          <p:nvPr/>
        </p:nvSpPr>
        <p:spPr>
          <a:xfrm>
            <a:off x="10182225" y="6353175"/>
            <a:ext cx="4305300" cy="885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0">
                <a:solidFill>
                  <a:srgbClr val="C4DA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2100" b="0">
                <a:solidFill>
                  <a:srgbClr val="C4DA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2100" b="0">
                <a:solidFill>
                  <a:srgbClr val="C4DA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2100" b="0">
                <a:solidFill>
                  <a:srgbClr val="C4DA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2100" b="0">
                <a:solidFill>
                  <a:srgbClr val="C4DA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2100" b="0">
                <a:solidFill>
                  <a:srgbClr val="C4DA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2100" b="0">
                <a:solidFill>
                  <a:srgbClr val="C4DA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2100" b="0">
                <a:solidFill>
                  <a:srgbClr val="C4DA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2100" b="0">
                <a:solidFill>
                  <a:srgbClr val="C4DA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2100" b="0">
                <a:solidFill>
                  <a:srgbClr val="C4DA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2100" b="0">
                <a:solidFill>
                  <a:srgbClr val="C4DA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2100" b="0">
                <a:solidFill>
                  <a:srgbClr val="C4DAEC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从真实问题走向上游测试和协作</a:t>
            </a:r>
            <a:endParaRPr sz="2100" b="0">
              <a:solidFill>
                <a:srgbClr val="C4DAEC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16" name="team"/>
          <p:cNvSpPr>
            <a:spLocks noGrp="1"/>
          </p:cNvSpPr>
          <p:nvPr/>
        </p:nvSpPr>
        <p:spPr>
          <a:xfrm>
            <a:off x="828675" y="7562850"/>
            <a:ext cx="13335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D7E7F4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00" b="0">
                <a:solidFill>
                  <a:srgbClr val="D7E7F4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00" b="0">
                <a:solidFill>
                  <a:srgbClr val="D7E7F4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00" b="0">
                <a:solidFill>
                  <a:srgbClr val="D7E7F4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00" b="0">
                <a:solidFill>
                  <a:srgbClr val="D7E7F4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00" b="0">
                <a:solidFill>
                  <a:srgbClr val="D7E7F4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00" b="0">
                <a:solidFill>
                  <a:srgbClr val="D7E7F4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00" b="0">
                <a:solidFill>
                  <a:srgbClr val="D7E7F4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00" b="0">
                <a:solidFill>
                  <a:srgbClr val="D7E7F4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00" b="0">
                <a:solidFill>
                  <a:srgbClr val="D7E7F4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00" b="0">
                <a:solidFill>
                  <a:srgbClr val="D7E7F4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00" b="0">
                <a:solidFill>
                  <a:srgbClr val="D7E7F4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应光团队  ·  AIC-2026-88229444</a:t>
            </a:r>
            <a:endParaRPr sz="1800" b="0">
              <a:solidFill>
                <a:srgbClr val="D7E7F4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section"/>
          <p:cNvSpPr>
            <a:spLocks noGrp="1"/>
          </p:cNvSpPr>
          <p:nvPr/>
        </p:nvSpPr>
        <p:spPr>
          <a:xfrm>
            <a:off x="619125" y="314325"/>
            <a:ext cx="12668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算法与实现</a:t>
            </a:r>
            <a:endParaRPr sz="1350" b="0">
              <a:solidFill>
                <a:srgbClr val="516278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2" name="heading"/>
          <p:cNvSpPr>
            <a:spLocks noGrp="1"/>
          </p:cNvSpPr>
          <p:nvPr/>
        </p:nvSpPr>
        <p:spPr>
          <a:xfrm>
            <a:off x="619125" y="762000"/>
            <a:ext cx="1400175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defPPr>
            <a:lvl1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1pPr>
            <a:lvl2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2pPr>
            <a:lvl3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3pPr>
            <a:lvl4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4pPr>
            <a:lvl5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5pPr>
            <a:lvl6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6pPr>
            <a:lvl7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7pPr>
            <a:lvl8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8pPr>
            <a:lvl9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9pPr>
          </a:lstStyle>
          <a:p>
            <a: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pPr>
            <a:r>
              <a: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rPr>
              <a:t>备答：动作调度算法</a:t>
            </a:r>
            <a:endParaRPr sz="3450" b="1">
              <a:solidFill>
                <a:srgbClr val="073570"/>
              </a:solidFill>
              <a:latin typeface="STSong" panose="02010600040101010101" charset="-122"/>
              <a:ea typeface="STSong" panose="02010600040101010101" charset="-122"/>
              <a:cs typeface="STSong" panose="02010600040101010101" charset="-122"/>
            </a:endParaRPr>
          </a:p>
        </p:txBody>
      </p:sp>
      <p:sp>
        <p:nvSpPr>
          <p:cNvPr id="3" name="head-rule"/>
          <p:cNvSpPr>
            <a:spLocks noGrp="1"/>
          </p:cNvSpPr>
          <p:nvPr/>
        </p:nvSpPr>
        <p:spPr>
          <a:xfrm>
            <a:off x="619125" y="1619250"/>
            <a:ext cx="14001750" cy="13335"/>
          </a:xfrm>
          <a:prstGeom prst="rect">
            <a:avLst/>
          </a:prstGeom>
          <a:solidFill>
            <a:srgbClr val="B7CDE1"/>
          </a:solidFill>
          <a:ln w="0">
            <a:noFill/>
          </a:ln>
        </p:spPr>
      </p:sp>
      <p:sp>
        <p:nvSpPr>
          <p:cNvPr id="4" name="brand"/>
          <p:cNvSpPr>
            <a:spLocks noGrp="1"/>
          </p:cNvSpPr>
          <p:nvPr/>
        </p:nvSpPr>
        <p:spPr>
          <a:xfrm>
            <a:off x="619125" y="8124825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光语者  /  Lightspeaker</a:t>
            </a:r>
            <a:endParaRPr sz="1275" b="0">
              <a:solidFill>
                <a:srgbClr val="516278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5" name="page"/>
          <p:cNvSpPr>
            <a:spLocks noGrp="1"/>
          </p:cNvSpPr>
          <p:nvPr/>
        </p:nvSpPr>
        <p:spPr>
          <a:xfrm>
            <a:off x="14049375" y="80867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15</a:t>
            </a:r>
            <a:endParaRPr sz="1575" b="1">
              <a:solidFill>
                <a:srgbClr val="07357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nav-to-2">
            <a:hlinkClick r:id="rId1" action="ppaction://hlinksldjump"/>
          </p:cNvPr>
          <p:cNvSpPr>
            <a:spLocks noGrp="1"/>
          </p:cNvSpPr>
          <p:nvPr/>
        </p:nvSpPr>
        <p:spPr>
          <a:xfrm>
            <a:off x="13192125" y="8105775"/>
            <a:ext cx="6191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目录</a:t>
            </a:r>
            <a:endParaRPr sz="1350" b="0">
              <a:solidFill>
                <a:srgbClr val="516278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7" name="algorithm-bg"/>
          <p:cNvSpPr>
            <a:spLocks noGrp="1"/>
          </p:cNvSpPr>
          <p:nvPr/>
        </p:nvSpPr>
        <p:spPr>
          <a:xfrm>
            <a:off x="733425" y="2152650"/>
            <a:ext cx="8477250" cy="5372100"/>
          </a:xfrm>
          <a:prstGeom prst="rect">
            <a:avLst/>
          </a:prstGeom>
          <a:solidFill>
            <a:srgbClr val="F7F8FA"/>
          </a:solidFill>
          <a:ln w="11430">
            <a:solidFill>
              <a:srgbClr val="C9D0D6"/>
            </a:solidFill>
          </a:ln>
        </p:spPr>
      </p:sp>
      <p:sp>
        <p:nvSpPr>
          <p:cNvPr id="8" name="code-no0"/>
          <p:cNvSpPr>
            <a:spLocks noGrp="1"/>
          </p:cNvSpPr>
          <p:nvPr/>
        </p:nvSpPr>
        <p:spPr>
          <a:xfrm>
            <a:off x="914400" y="2381250"/>
            <a:ext cx="428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01</a:t>
            </a:r>
            <a:endParaRPr sz="1575" b="0">
              <a:solidFill>
                <a:srgbClr val="687581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9" name="code-line0"/>
          <p:cNvSpPr>
            <a:spLocks noGrp="1"/>
          </p:cNvSpPr>
          <p:nvPr/>
        </p:nvSpPr>
        <p:spPr>
          <a:xfrm>
            <a:off x="1485900" y="2381250"/>
            <a:ext cx="75342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while 任务有效且预算允许：</a:t>
            </a:r>
            <a:endParaRPr sz="1800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10" name="code-no1"/>
          <p:cNvSpPr>
            <a:spLocks noGrp="1"/>
          </p:cNvSpPr>
          <p:nvPr/>
        </p:nvSpPr>
        <p:spPr>
          <a:xfrm>
            <a:off x="914400" y="2857500"/>
            <a:ext cx="428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02</a:t>
            </a:r>
            <a:endParaRPr sz="1575" b="0">
              <a:solidFill>
                <a:srgbClr val="687581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11" name="code-line1"/>
          <p:cNvSpPr>
            <a:spLocks noGrp="1"/>
          </p:cNvSpPr>
          <p:nvPr/>
        </p:nvSpPr>
        <p:spPr>
          <a:xfrm>
            <a:off x="1485900" y="2857500"/>
            <a:ext cx="75342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    应用用户命令；观察当前界面</a:t>
            </a:r>
            <a:endParaRPr sz="1800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12" name="code-no2"/>
          <p:cNvSpPr>
            <a:spLocks noGrp="1"/>
          </p:cNvSpPr>
          <p:nvPr/>
        </p:nvSpPr>
        <p:spPr>
          <a:xfrm>
            <a:off x="914400" y="3333750"/>
            <a:ext cx="428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03</a:t>
            </a:r>
            <a:endParaRPr sz="1575" b="0">
              <a:solidFill>
                <a:srgbClr val="687581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13" name="code-line2"/>
          <p:cNvSpPr>
            <a:spLocks noGrp="1"/>
          </p:cNvSpPr>
          <p:nvPr/>
        </p:nvSpPr>
        <p:spPr>
          <a:xfrm>
            <a:off x="1485900" y="3333750"/>
            <a:ext cx="75342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    编译目标、观察、历史、Plan、Memory</a:t>
            </a:r>
            <a:endParaRPr sz="1800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14" name="code-no3"/>
          <p:cNvSpPr>
            <a:spLocks noGrp="1"/>
          </p:cNvSpPr>
          <p:nvPr/>
        </p:nvSpPr>
        <p:spPr>
          <a:xfrm>
            <a:off x="914400" y="3810000"/>
            <a:ext cx="428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04</a:t>
            </a:r>
            <a:endParaRPr sz="1575" b="0">
              <a:solidFill>
                <a:srgbClr val="687581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15" name="code-line3"/>
          <p:cNvSpPr>
            <a:spLocks noGrp="1"/>
          </p:cNvSpPr>
          <p:nvPr/>
        </p:nvSpPr>
        <p:spPr>
          <a:xfrm>
            <a:off x="1485900" y="3810000"/>
            <a:ext cx="75342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    获取动作提案与上一步状态判断</a:t>
            </a:r>
            <a:endParaRPr sz="1800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16" name="code-no4"/>
          <p:cNvSpPr>
            <a:spLocks noGrp="1"/>
          </p:cNvSpPr>
          <p:nvPr/>
        </p:nvSpPr>
        <p:spPr>
          <a:xfrm>
            <a:off x="914400" y="4286250"/>
            <a:ext cx="428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05</a:t>
            </a:r>
            <a:endParaRPr sz="1575" b="0">
              <a:solidFill>
                <a:srgbClr val="687581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17" name="code-line4"/>
          <p:cNvSpPr>
            <a:spLocks noGrp="1"/>
          </p:cNvSpPr>
          <p:nvPr/>
        </p:nvSpPr>
        <p:spPr>
          <a:xfrm>
            <a:off x="1485900" y="4286250"/>
            <a:ext cx="75342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    若提案已被纠正或调用组无效：重新决策</a:t>
            </a:r>
            <a:endParaRPr sz="1800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18" name="code-no5"/>
          <p:cNvSpPr>
            <a:spLocks noGrp="1"/>
          </p:cNvSpPr>
          <p:nvPr/>
        </p:nvSpPr>
        <p:spPr>
          <a:xfrm>
            <a:off x="914400" y="4762500"/>
            <a:ext cx="428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06</a:t>
            </a:r>
            <a:endParaRPr sz="1575" b="0">
              <a:solidFill>
                <a:srgbClr val="687581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19" name="code-line5"/>
          <p:cNvSpPr>
            <a:spLocks noGrp="1"/>
          </p:cNvSpPr>
          <p:nvPr/>
        </p:nvSpPr>
        <p:spPr>
          <a:xfrm>
            <a:off x="1485900" y="4762500"/>
            <a:ext cx="75342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    for 每个待执行动作：</a:t>
            </a:r>
            <a:endParaRPr sz="1800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20" name="code-no6"/>
          <p:cNvSpPr>
            <a:spLocks noGrp="1"/>
          </p:cNvSpPr>
          <p:nvPr/>
        </p:nvSpPr>
        <p:spPr>
          <a:xfrm>
            <a:off x="914400" y="5238750"/>
            <a:ext cx="428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07</a:t>
            </a:r>
            <a:endParaRPr sz="1575" b="0">
              <a:solidFill>
                <a:srgbClr val="687581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21" name="code-line6"/>
          <p:cNvSpPr>
            <a:spLocks noGrp="1"/>
          </p:cNvSpPr>
          <p:nvPr/>
        </p:nvSpPr>
        <p:spPr>
          <a:xfrm>
            <a:off x="1485900" y="5238750"/>
            <a:ext cx="75342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        检查授权、审批结果、最新纠正和目标</a:t>
            </a:r>
            <a:endParaRPr sz="1800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22" name="code-no7"/>
          <p:cNvSpPr>
            <a:spLocks noGrp="1"/>
          </p:cNvSpPr>
          <p:nvPr/>
        </p:nvSpPr>
        <p:spPr>
          <a:xfrm>
            <a:off x="914400" y="5715000"/>
            <a:ext cx="428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08</a:t>
            </a:r>
            <a:endParaRPr sz="1575" b="0">
              <a:solidFill>
                <a:srgbClr val="687581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23" name="code-line7"/>
          <p:cNvSpPr>
            <a:spLocks noGrp="1"/>
          </p:cNvSpPr>
          <p:nvPr/>
        </p:nvSpPr>
        <p:spPr>
          <a:xfrm>
            <a:off x="1485900" y="5715000"/>
            <a:ext cx="75342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        执行动作；记录回执</a:t>
            </a:r>
            <a:endParaRPr sz="1800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24" name="code-no8"/>
          <p:cNvSpPr>
            <a:spLocks noGrp="1"/>
          </p:cNvSpPr>
          <p:nvPr/>
        </p:nvSpPr>
        <p:spPr>
          <a:xfrm>
            <a:off x="914400" y="6191250"/>
            <a:ext cx="428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09</a:t>
            </a:r>
            <a:endParaRPr sz="1575" b="0">
              <a:solidFill>
                <a:srgbClr val="687581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25" name="code-line8"/>
          <p:cNvSpPr>
            <a:spLocks noGrp="1"/>
          </p:cNvSpPr>
          <p:nvPr/>
        </p:nvSpPr>
        <p:spPr>
          <a:xfrm>
            <a:off x="1485900" y="6191250"/>
            <a:ext cx="75342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        若部分执行或结果未知：停止剩余动作</a:t>
            </a:r>
            <a:endParaRPr sz="1800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26" name="code-no9"/>
          <p:cNvSpPr>
            <a:spLocks noGrp="1"/>
          </p:cNvSpPr>
          <p:nvPr/>
        </p:nvSpPr>
        <p:spPr>
          <a:xfrm>
            <a:off x="914400" y="6667500"/>
            <a:ext cx="428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575" b="0">
                <a:solidFill>
                  <a:srgbClr val="687581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10</a:t>
            </a:r>
            <a:endParaRPr sz="1575" b="0">
              <a:solidFill>
                <a:srgbClr val="687581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27" name="code-line9"/>
          <p:cNvSpPr>
            <a:spLocks noGrp="1"/>
          </p:cNvSpPr>
          <p:nvPr/>
        </p:nvSpPr>
        <p:spPr>
          <a:xfrm>
            <a:off x="1485900" y="6667500"/>
            <a:ext cx="75342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00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        重新观察；更新运行状态</a:t>
            </a:r>
            <a:endParaRPr sz="1800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28" name="h-三个边界"/>
          <p:cNvSpPr>
            <a:spLocks noGrp="1"/>
          </p:cNvSpPr>
          <p:nvPr/>
        </p:nvSpPr>
        <p:spPr>
          <a:xfrm>
            <a:off x="9906000" y="2276475"/>
            <a:ext cx="45815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5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5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5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5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5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5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5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5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5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5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5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5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三个边界</a:t>
            </a:r>
            <a:endParaRPr sz="2550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9" name="num-1"/>
          <p:cNvSpPr>
            <a:spLocks noGrp="1"/>
          </p:cNvSpPr>
          <p:nvPr/>
        </p:nvSpPr>
        <p:spPr>
          <a:xfrm>
            <a:off x="9839325" y="3105150"/>
            <a:ext cx="6286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</a:t>
            </a:r>
            <a:endParaRPr sz="3300" b="1">
              <a:solidFill>
                <a:srgbClr val="94B6D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0" name="h-决策不是执行"/>
          <p:cNvSpPr>
            <a:spLocks noGrp="1"/>
          </p:cNvSpPr>
          <p:nvPr/>
        </p:nvSpPr>
        <p:spPr>
          <a:xfrm>
            <a:off x="10610850" y="3124200"/>
            <a:ext cx="38862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决策不是执行</a:t>
            </a:r>
            <a:endParaRPr sz="2175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1" name="b-模型返回后再次检查用"/>
          <p:cNvSpPr>
            <a:spLocks noGrp="1"/>
          </p:cNvSpPr>
          <p:nvPr/>
        </p:nvSpPr>
        <p:spPr>
          <a:xfrm>
            <a:off x="10610850" y="3600450"/>
            <a:ext cx="38862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模型返回后再次检查用户最新要求，避免旧决策继续派发。</a:t>
            </a:r>
            <a:endParaRPr sz="1875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32" name="num-2"/>
          <p:cNvSpPr>
            <a:spLocks noGrp="1"/>
          </p:cNvSpPr>
          <p:nvPr/>
        </p:nvSpPr>
        <p:spPr>
          <a:xfrm>
            <a:off x="9839325" y="4667250"/>
            <a:ext cx="6286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</a:t>
            </a:r>
            <a:endParaRPr sz="3300" b="1">
              <a:solidFill>
                <a:srgbClr val="94B6D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3" name="h-批处理不是原子动作"/>
          <p:cNvSpPr>
            <a:spLocks noGrp="1"/>
          </p:cNvSpPr>
          <p:nvPr/>
        </p:nvSpPr>
        <p:spPr>
          <a:xfrm>
            <a:off x="10610850" y="4686300"/>
            <a:ext cx="38862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批处理不是原子动作</a:t>
            </a:r>
            <a:endParaRPr sz="2175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4" name="b-逐项记录回执；中途变"/>
          <p:cNvSpPr>
            <a:spLocks noGrp="1"/>
          </p:cNvSpPr>
          <p:nvPr/>
        </p:nvSpPr>
        <p:spPr>
          <a:xfrm>
            <a:off x="10610850" y="5162550"/>
            <a:ext cx="38862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逐项记录回执；中途变化时停止尚未执行的</a:t>
            </a:r>
            <a:r>
              <a:rPr lang="zh-CN"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其余动作</a:t>
            </a:r>
            <a:r>
              <a: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。</a:t>
            </a:r>
            <a:endParaRPr sz="1875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35" name="num-3"/>
          <p:cNvSpPr>
            <a:spLocks noGrp="1"/>
          </p:cNvSpPr>
          <p:nvPr/>
        </p:nvSpPr>
        <p:spPr>
          <a:xfrm>
            <a:off x="9839325" y="6229350"/>
            <a:ext cx="6286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3300" b="1">
                <a:solidFill>
                  <a:srgbClr val="94B6D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sz="3300" b="1">
              <a:solidFill>
                <a:srgbClr val="94B6D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6" name="h-未知结果不自动重放"/>
          <p:cNvSpPr>
            <a:spLocks noGrp="1"/>
          </p:cNvSpPr>
          <p:nvPr/>
        </p:nvSpPr>
        <p:spPr>
          <a:xfrm>
            <a:off x="10610850" y="6248400"/>
            <a:ext cx="38862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175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未知结果不自动重放</a:t>
            </a:r>
            <a:endParaRPr sz="2175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7" name="b-先获得新的观察或人工"/>
          <p:cNvSpPr>
            <a:spLocks noGrp="1"/>
          </p:cNvSpPr>
          <p:nvPr/>
        </p:nvSpPr>
        <p:spPr>
          <a:xfrm>
            <a:off x="10610850" y="6724650"/>
            <a:ext cx="38862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875" b="0">
                <a:solidFill>
                  <a:srgbClr val="252C35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先获得新的观察或人工确认，避免重复发送等副作用。</a:t>
            </a:r>
            <a:endParaRPr sz="1875" b="0">
              <a:solidFill>
                <a:srgbClr val="252C35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section"/>
          <p:cNvSpPr>
            <a:spLocks noGrp="1"/>
          </p:cNvSpPr>
          <p:nvPr/>
        </p:nvSpPr>
        <p:spPr>
          <a:xfrm>
            <a:off x="619125" y="314325"/>
            <a:ext cx="12668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成果核验</a:t>
            </a:r>
            <a:endParaRPr sz="1350" b="0">
              <a:solidFill>
                <a:srgbClr val="516278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2" name="heading"/>
          <p:cNvSpPr>
            <a:spLocks noGrp="1"/>
          </p:cNvSpPr>
          <p:nvPr/>
        </p:nvSpPr>
        <p:spPr>
          <a:xfrm>
            <a:off x="619125" y="762000"/>
            <a:ext cx="1400175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defPPr>
            <a:lvl1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1pPr>
            <a:lvl2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2pPr>
            <a:lvl3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3pPr>
            <a:lvl4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4pPr>
            <a:lvl5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5pPr>
            <a:lvl6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6pPr>
            <a:lvl7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7pPr>
            <a:lvl8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8pPr>
            <a:lvl9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lvl9pPr>
          </a:lstStyle>
          <a:p>
            <a:pPr algn="l">
              <a:def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defRPr>
            </a:pPr>
            <a:r>
              <a:rPr sz="3450" b="1">
                <a:solidFill>
                  <a:srgbClr val="073570"/>
                </a:solidFill>
                <a:latin typeface="STSong" panose="02010600040101010101" charset="-122"/>
                <a:ea typeface="STSong" panose="02010600040101010101" charset="-122"/>
                <a:cs typeface="STSong" panose="02010600040101010101" charset="-122"/>
              </a:rPr>
              <a:t>备答：公开证据与源码</a:t>
            </a:r>
            <a:endParaRPr sz="3450" b="1">
              <a:solidFill>
                <a:srgbClr val="073570"/>
              </a:solidFill>
              <a:latin typeface="STSong" panose="02010600040101010101" charset="-122"/>
              <a:ea typeface="STSong" panose="02010600040101010101" charset="-122"/>
              <a:cs typeface="STSong" panose="02010600040101010101" charset="-122"/>
            </a:endParaRPr>
          </a:p>
        </p:txBody>
      </p:sp>
      <p:sp>
        <p:nvSpPr>
          <p:cNvPr id="3" name="head-rule"/>
          <p:cNvSpPr>
            <a:spLocks noGrp="1"/>
          </p:cNvSpPr>
          <p:nvPr/>
        </p:nvSpPr>
        <p:spPr>
          <a:xfrm>
            <a:off x="619125" y="1619250"/>
            <a:ext cx="14001750" cy="13335"/>
          </a:xfrm>
          <a:prstGeom prst="rect">
            <a:avLst/>
          </a:prstGeom>
          <a:solidFill>
            <a:srgbClr val="B7CDE1"/>
          </a:solidFill>
          <a:ln w="0">
            <a:noFill/>
          </a:ln>
        </p:spPr>
      </p:sp>
      <p:sp>
        <p:nvSpPr>
          <p:cNvPr id="4" name="brand"/>
          <p:cNvSpPr>
            <a:spLocks noGrp="1"/>
          </p:cNvSpPr>
          <p:nvPr/>
        </p:nvSpPr>
        <p:spPr>
          <a:xfrm>
            <a:off x="619125" y="8124825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275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光语者  /  Lightspeaker</a:t>
            </a:r>
            <a:endParaRPr sz="1275" b="0">
              <a:solidFill>
                <a:srgbClr val="516278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5" name="page"/>
          <p:cNvSpPr>
            <a:spLocks noGrp="1"/>
          </p:cNvSpPr>
          <p:nvPr/>
        </p:nvSpPr>
        <p:spPr>
          <a:xfrm>
            <a:off x="14049375" y="80867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r">
              <a:def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575" b="1">
                <a:solidFill>
                  <a:srgbClr val="07357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16</a:t>
            </a:r>
            <a:endParaRPr sz="1575" b="1">
              <a:solidFill>
                <a:srgbClr val="07357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nav-to-2">
            <a:hlinkClick r:id="rId1" action="ppaction://hlinksldjump"/>
          </p:cNvPr>
          <p:cNvSpPr>
            <a:spLocks noGrp="1"/>
          </p:cNvSpPr>
          <p:nvPr/>
        </p:nvSpPr>
        <p:spPr>
          <a:xfrm>
            <a:off x="13192125" y="8105775"/>
            <a:ext cx="6191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defPPr>
            <a:lvl1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1pPr>
            <a:lvl2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2pPr>
            <a:lvl3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3pPr>
            <a:lvl4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4pPr>
            <a:lvl5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5pPr>
            <a:lvl6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6pPr>
            <a:lvl7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7pPr>
            <a:lvl8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8pPr>
            <a:lvl9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lvl9pPr>
          </a:lstStyle>
          <a:p>
            <a:pPr algn="l">
              <a:def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defRPr>
            </a:pPr>
            <a:r>
              <a:rPr sz="1350" b="0">
                <a:solidFill>
                  <a:srgbClr val="516278"/>
                </a:solidFill>
                <a:latin typeface="DengXian" panose="02010600030101010101" charset="-122"/>
                <a:ea typeface="DengXian" panose="02010600030101010101" charset="-122"/>
                <a:cs typeface="DengXian" panose="02010600030101010101" charset="-122"/>
              </a:rPr>
              <a:t>目录</a:t>
            </a:r>
            <a:endParaRPr sz="1350" b="0">
              <a:solidFill>
                <a:srgbClr val="516278"/>
              </a:solidFill>
              <a:latin typeface="DengXian" panose="02010600030101010101" charset="-122"/>
              <a:ea typeface="DengXian" panose="02010600030101010101" charset="-122"/>
              <a:cs typeface="DengXian" panose="02010600030101010101" charset="-122"/>
            </a:endParaRPr>
          </a:p>
        </p:txBody>
      </p:sp>
      <p:sp>
        <p:nvSpPr>
          <p:cNvPr id="7" name="h-项目与任务"/>
          <p:cNvSpPr>
            <a:spLocks noGrp="1"/>
          </p:cNvSpPr>
          <p:nvPr/>
        </p:nvSpPr>
        <p:spPr>
          <a:xfrm>
            <a:off x="762000" y="2247900"/>
            <a:ext cx="642937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项目与任务</a:t>
            </a:r>
            <a:endParaRPr sz="2400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8" name="evidence-line0"/>
          <p:cNvSpPr>
            <a:spLocks noGrp="1"/>
          </p:cNvSpPr>
          <p:nvPr/>
        </p:nvSpPr>
        <p:spPr>
          <a:xfrm>
            <a:off x="762000" y="2800350"/>
            <a:ext cx="6381750" cy="13335"/>
          </a:xfrm>
          <a:prstGeom prst="rect">
            <a:avLst/>
          </a:prstGeom>
          <a:solidFill>
            <a:srgbClr val="B8CCE2"/>
          </a:solidFill>
          <a:ln w="0">
            <a:noFill/>
          </a:ln>
        </p:spPr>
      </p:sp>
      <p:sp>
        <p:nvSpPr>
          <p:cNvPr id="9" name="link-项目仓库及使用说明"/>
          <p:cNvSpPr>
            <a:spLocks noGrp="1"/>
          </p:cNvSpPr>
          <p:nvPr/>
        </p:nvSpPr>
        <p:spPr>
          <a:xfrm>
            <a:off x="762000" y="3095625"/>
            <a:ext cx="6572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650" b="1" u="sng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hlinkClick r:id="rId2"/>
              </a:rPr>
              <a:t>项目仓库及使用说明</a:t>
            </a:r>
            <a:endParaRPr sz="1650" b="1" u="sng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hlinkClick r:id="rId2"/>
            </a:endParaRPr>
          </a:p>
        </p:txBody>
      </p:sp>
      <p:sp>
        <p:nvSpPr>
          <p:cNvPr id="10" name="link-六类真实任务卡"/>
          <p:cNvSpPr>
            <a:spLocks noGrp="1"/>
          </p:cNvSpPr>
          <p:nvPr/>
        </p:nvSpPr>
        <p:spPr>
          <a:xfrm>
            <a:off x="762000" y="3752850"/>
            <a:ext cx="6572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650" b="1" u="sng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hlinkClick r:id="rIdRefine10"/>
              </a:rPr>
              <a:t>六类任务卡 · 20项交付及证据</a:t>
            </a:r>
          </a:p>
        </p:txBody>
      </p:sp>
      <p:sp>
        <p:nvSpPr>
          <p:cNvPr id="11" name="h-CUA上游贡献"/>
          <p:cNvSpPr>
            <a:spLocks noGrp="1"/>
          </p:cNvSpPr>
          <p:nvPr/>
        </p:nvSpPr>
        <p:spPr>
          <a:xfrm>
            <a:off x="8001000" y="2247900"/>
            <a:ext cx="642937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CUA上游贡献</a:t>
            </a:r>
            <a:endParaRPr sz="2400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2" name="evidence-line1"/>
          <p:cNvSpPr>
            <a:spLocks noGrp="1"/>
          </p:cNvSpPr>
          <p:nvPr/>
        </p:nvSpPr>
        <p:spPr>
          <a:xfrm>
            <a:off x="8001000" y="2800350"/>
            <a:ext cx="6381750" cy="13335"/>
          </a:xfrm>
          <a:prstGeom prst="rect">
            <a:avLst/>
          </a:prstGeom>
          <a:solidFill>
            <a:srgbClr val="B8CCE2"/>
          </a:solidFill>
          <a:ln w="0">
            <a:noFill/>
          </a:ln>
        </p:spPr>
      </p:sp>
      <p:sp>
        <p:nvSpPr>
          <p:cNvPr id="13" name="link-前台输入修复 · #4500"/>
          <p:cNvSpPr>
            <a:spLocks noGrp="1"/>
          </p:cNvSpPr>
          <p:nvPr/>
        </p:nvSpPr>
        <p:spPr>
          <a:xfrm>
            <a:off x="8001000" y="3095625"/>
            <a:ext cx="6572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650" b="1" u="sng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hlinkClick r:id="rId4"/>
              </a:rPr>
              <a:t>前台输入修复 · #4500</a:t>
            </a:r>
            <a:endParaRPr sz="1650" b="1" u="sng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hlinkClick r:id="rId4"/>
            </a:endParaRPr>
          </a:p>
        </p:txBody>
      </p:sp>
      <p:sp>
        <p:nvSpPr>
          <p:cNvPr id="14" name="link-文稿输入协作 · #5587"/>
          <p:cNvSpPr>
            <a:spLocks noGrp="1"/>
          </p:cNvSpPr>
          <p:nvPr/>
        </p:nvSpPr>
        <p:spPr>
          <a:xfrm>
            <a:off x="8001000" y="3752850"/>
            <a:ext cx="6572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650" b="1" u="sng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hlinkClick r:id="rId5"/>
              </a:rPr>
              <a:t>文稿输入协作 · #5587</a:t>
            </a:r>
            <a:endParaRPr sz="1650" b="1" u="sng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hlinkClick r:id="rId5"/>
            </a:endParaRPr>
          </a:p>
        </p:txBody>
      </p:sp>
      <p:sp>
        <p:nvSpPr>
          <p:cNvPr id="15" name="h-OpenGCUA协作"/>
          <p:cNvSpPr>
            <a:spLocks noGrp="1"/>
          </p:cNvSpPr>
          <p:nvPr/>
        </p:nvSpPr>
        <p:spPr>
          <a:xfrm>
            <a:off x="762000" y="4895850"/>
            <a:ext cx="642937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OpenGCUA协作</a:t>
            </a:r>
            <a:endParaRPr sz="2400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6" name="evidence-line2"/>
          <p:cNvSpPr>
            <a:spLocks noGrp="1"/>
          </p:cNvSpPr>
          <p:nvPr/>
        </p:nvSpPr>
        <p:spPr>
          <a:xfrm>
            <a:off x="762000" y="5448300"/>
            <a:ext cx="6381750" cy="13335"/>
          </a:xfrm>
          <a:prstGeom prst="rect">
            <a:avLst/>
          </a:prstGeom>
          <a:solidFill>
            <a:srgbClr val="B8CCE2"/>
          </a:solidFill>
          <a:ln w="0">
            <a:noFill/>
          </a:ln>
        </p:spPr>
      </p:sp>
      <p:sp>
        <p:nvSpPr>
          <p:cNvPr id="17" name="link-Windows支持提案 · Issue #5"/>
          <p:cNvSpPr>
            <a:spLocks noGrp="1"/>
          </p:cNvSpPr>
          <p:nvPr/>
        </p:nvSpPr>
        <p:spPr>
          <a:xfrm>
            <a:off x="762000" y="5743575"/>
            <a:ext cx="6572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650" b="1" u="sng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hlinkClick r:id="rIdRefine17"/>
              </a:rPr>
              <a:t>Windows 适配设计与实验 · Issue #6</a:t>
            </a:r>
          </a:p>
        </p:txBody>
      </p:sp>
      <p:sp>
        <p:nvSpPr>
          <p:cNvPr id="18" name="link-维护者实施要求与回复"/>
          <p:cNvSpPr>
            <a:spLocks noGrp="1"/>
          </p:cNvSpPr>
          <p:nvPr/>
        </p:nvSpPr>
        <p:spPr>
          <a:xfrm>
            <a:off x="762000" y="6400800"/>
            <a:ext cx="6572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650" b="1" u="sng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hlinkClick r:id="rId7"/>
              </a:rPr>
              <a:t>维护者实施要求与回复</a:t>
            </a:r>
            <a:endParaRPr sz="1650" b="1" u="sng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hlinkClick r:id="rId7"/>
            </a:endParaRPr>
          </a:p>
        </p:txBody>
      </p:sp>
      <p:sp>
        <p:nvSpPr>
          <p:cNvPr id="19" name="h-其他社区贡献"/>
          <p:cNvSpPr>
            <a:spLocks noGrp="1"/>
          </p:cNvSpPr>
          <p:nvPr/>
        </p:nvSpPr>
        <p:spPr>
          <a:xfrm>
            <a:off x="8001000" y="4895850"/>
            <a:ext cx="642937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40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其他社区贡献</a:t>
            </a:r>
            <a:endParaRPr sz="2400" b="1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0" name="evidence-line3"/>
          <p:cNvSpPr>
            <a:spLocks noGrp="1"/>
          </p:cNvSpPr>
          <p:nvPr/>
        </p:nvSpPr>
        <p:spPr>
          <a:xfrm>
            <a:off x="8001000" y="5448300"/>
            <a:ext cx="6381750" cy="13335"/>
          </a:xfrm>
          <a:prstGeom prst="rect">
            <a:avLst/>
          </a:prstGeom>
          <a:solidFill>
            <a:srgbClr val="B8CCE2"/>
          </a:solidFill>
          <a:ln w="0">
            <a:noFill/>
          </a:ln>
        </p:spPr>
      </p:sp>
      <p:sp>
        <p:nvSpPr>
          <p:cNvPr id="21" name="link-OpenClaw资源生命周期 · #126399"/>
          <p:cNvSpPr>
            <a:spLocks noGrp="1"/>
          </p:cNvSpPr>
          <p:nvPr/>
        </p:nvSpPr>
        <p:spPr>
          <a:xfrm>
            <a:off x="8001000" y="5743575"/>
            <a:ext cx="6572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650" b="1" u="sng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hlinkClick r:id="rId8"/>
              </a:rPr>
              <a:t>OpenClaw资源生命周期 · #126399</a:t>
            </a:r>
            <a:endParaRPr sz="1650" b="1" u="sng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hlinkClick r:id="rId8"/>
            </a:endParaRPr>
          </a:p>
        </p:txBody>
      </p:sp>
      <p:sp>
        <p:nvSpPr>
          <p:cNvPr id="22" name="link-Windows设备审批 · #127177"/>
          <p:cNvSpPr>
            <a:spLocks noGrp="1"/>
          </p:cNvSpPr>
          <p:nvPr/>
        </p:nvSpPr>
        <p:spPr>
          <a:xfrm>
            <a:off x="8001000" y="6400800"/>
            <a:ext cx="6572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650" b="1" u="sng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hlinkClick r:id="rId9"/>
              </a:rPr>
              <a:t>Windows设备审批 · #127177</a:t>
            </a:r>
            <a:endParaRPr sz="1650" b="1" u="sng">
              <a:solidFill>
                <a:srgbClr val="084C9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hlinkClick r:id="rId9"/>
            </a:endParaRPr>
          </a:p>
        </p:txBody>
      </p:sp>
      <p:sp>
        <p:nvSpPr>
          <p:cNvPr id="61" name="updated-text-61"/>
          <p:cNvSpPr>
            <a:spLocks noGrp="1"/>
          </p:cNvSpPr>
          <p:nvPr/>
        </p:nvSpPr>
        <p:spPr>
          <a:xfrm>
            <a:off x="8001000" y="7029450"/>
            <a:ext cx="6572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875" b="1" u="sng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hlinkClick r:id="rIdRefine61"/>
              </a:rPr>
              <a:t>XERJ · 团队成员贡献与源码收录</a:t>
            </a:r>
          </a:p>
        </p:txBody>
      </p:sp>
      <p:sp>
        <p:nvSpPr>
          <p:cNvPr id="62" name="updated-text-62"/>
          <p:cNvSpPr>
            <a:spLocks noGrp="1"/>
          </p:cNvSpPr>
          <p:nvPr/>
        </p:nvSpPr>
        <p:spPr>
          <a:xfrm>
            <a:off x="762000" y="4276725"/>
            <a:ext cx="6572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defPPr>
            <a:lvl1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  <a:lvl6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6pPr>
            <a:lvl7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7pPr>
            <a:lvl8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8pPr>
            <a:lvl9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9pPr>
          </a:lstStyle>
          <a:p>
            <a:pPr algn="l">
              <a:defRPr sz="1650" b="1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875" b="1" u="sng">
                <a:solidFill>
                  <a:srgbClr val="084C9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hlinkClick r:id="rIdRefine62"/>
              </a:rPr>
              <a:t>佐证材料 · 案例、产物与公开轨迹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13.55,&quot;left&quot;:570,&quot;top&quot;:171,&quot;width&quot;:567}"/>
</p:tagLst>
</file>

<file path=ppt/tags/tag2.xml><?xml version="1.0" encoding="utf-8"?>
<p:tagLst xmlns:p="http://schemas.openxmlformats.org/presentationml/2006/main">
  <p:tag name="KSO_WM_DIAGRAM_VIRTUALLY_FRAME" val="{&quot;height&quot;:413.55,&quot;left&quot;:570,&quot;top&quot;:171,&quot;width&quot;:567}"/>
</p:tagLst>
</file>

<file path=ppt/tags/tag3.xml><?xml version="1.0" encoding="utf-8"?>
<p:tagLst xmlns:p="http://schemas.openxmlformats.org/presentationml/2006/main">
  <p:tag name="KSO_WM_DIAGRAM_VIRTUALLY_FRAME" val="{&quot;height&quot;:413.55,&quot;left&quot;:570,&quot;top&quot;:171,&quot;width&quot;:567}"/>
</p:tagLst>
</file>

<file path=ppt/tags/tag4.xml><?xml version="1.0" encoding="utf-8"?>
<p:tagLst xmlns:p="http://schemas.openxmlformats.org/presentationml/2006/main">
  <p:tag name="KSO_WM_DIAGRAM_VIRTUALLY_FRAME" val="{&quot;height&quot;:413.55,&quot;left&quot;:570,&quot;top&quot;:171,&quot;width&quot;:567}"/>
</p:tagLst>
</file>

<file path=ppt/tags/tag5.xml><?xml version="1.0" encoding="utf-8"?>
<p:tagLst xmlns:p="http://schemas.openxmlformats.org/presentationml/2006/main">
  <p:tag name="KSO_WM_DIAGRAM_VIRTUALLY_FRAME" val="{&quot;height&quot;:413.55,&quot;left&quot;:570,&quot;top&quot;:171,&quot;width&quot;:567}"/>
</p:tagLst>
</file>

<file path=ppt/tags/tag6.xml><?xml version="1.0" encoding="utf-8"?>
<p:tagLst xmlns:p="http://schemas.openxmlformats.org/presentationml/2006/main">
  <p:tag name="KSO_WM_DIAGRAM_VIRTUALLY_FRAME" val="{&quot;height&quot;:413.55,&quot;left&quot;:570,&quot;top&quot;:171,&quot;width&quot;:567}"/>
</p:tagLst>
</file>

<file path=ppt/tags/tag7.xml><?xml version="1.0" encoding="utf-8"?>
<p:tagLst xmlns:p="http://schemas.openxmlformats.org/presentationml/2006/main">
  <p:tag name="KSO_WM_DIAGRAM_VIRTUALLY_FRAME" val="{&quot;height&quot;:413.55,&quot;left&quot;:570,&quot;top&quot;:171,&quot;width&quot;:567}"/>
</p:tagLst>
</file>

<file path=ppt/tags/tag8.xml><?xml version="1.0" encoding="utf-8"?>
<p:tagLst xmlns:p="http://schemas.openxmlformats.org/presentationml/2006/main">
  <p:tag name="KSO_WM_DIAGRAM_VIRTUALLY_FRAME" val="{&quot;height&quot;:413.55,&quot;left&quot;:570,&quot;top&quot;:171,&quot;width&quot;:567}"/>
</p:tagLst>
</file>

<file path=ppt/tags/tag9.xml><?xml version="1.0" encoding="utf-8"?>
<p:tagLst xmlns:p="http://schemas.openxmlformats.org/presentationml/2006/main">
  <p:tag name="KSO_WM_DIAGRAM_VIRTUALLY_FRAME" val="{&quot;height&quot;:413.55,&quot;left&quot;:570,&quot;top&quot;:171,&quot;width&quot;:567}"/>
</p:tagLst>
</file>

<file path=ppt/tags/tag10.xml><?xml version="1.0" encoding="utf-8"?>
<p:tagLst xmlns:p="http://schemas.openxmlformats.org/presentationml/2006/main">
  <p:tag name="KSO_WM_DIAGRAM_VIRTUALLY_FRAME" val="{&quot;height&quot;:413.55,&quot;left&quot;:570,&quot;top&quot;:171,&quot;width&quot;:567}"/>
</p:tagLst>
</file>

<file path=ppt/tags/tag11.xml><?xml version="1.0" encoding="utf-8"?>
<p:tagLst xmlns:p="http://schemas.openxmlformats.org/presentationml/2006/main">
  <p:tag name="KSO_WM_DIAGRAM_VIRTUALLY_FRAME" val="{&quot;height&quot;:413.55,&quot;left&quot;:570,&quot;top&quot;:171,&quot;width&quot;:567}"/>
</p:tagLst>
</file>

<file path=ppt/tags/tag12.xml><?xml version="1.0" encoding="utf-8"?>
<p:tagLst xmlns:p="http://schemas.openxmlformats.org/presentationml/2006/main">
  <p:tag name="KSO_WM_DIAGRAM_VIRTUALLY_FRAME" val="{&quot;height&quot;:413.55,&quot;left&quot;:570,&quot;top&quot;:171,&quot;width&quot;:567}"/>
</p:tagLst>
</file>

<file path=ppt/tags/tag13.xml><?xml version="1.0" encoding="utf-8"?>
<p:tagLst xmlns:p="http://schemas.openxmlformats.org/presentationml/2006/main">
  <p:tag name="KSO_WM_DIAGRAM_VIRTUALLY_FRAME" val="{&quot;height&quot;:413.55,&quot;left&quot;:570,&quot;top&quot;:171,&quot;width&quot;:567}"/>
</p:tagLst>
</file>

<file path=ppt/tags/tag14.xml><?xml version="1.0" encoding="utf-8"?>
<p:tagLst xmlns:p="http://schemas.openxmlformats.org/presentationml/2006/main">
  <p:tag name="KSO_WM_DIAGRAM_VIRTUALLY_FRAME" val="{&quot;height&quot;:413.55,&quot;left&quot;:570,&quot;top&quot;:171,&quot;width&quot;:567}"/>
</p:tagLst>
</file>

<file path=ppt/tags/tag15.xml><?xml version="1.0" encoding="utf-8"?>
<p:tagLst xmlns:p="http://schemas.openxmlformats.org/presentationml/2006/main">
  <p:tag name="KSO_WM_DIAGRAM_VIRTUALLY_FRAME" val="{&quot;height&quot;:413.55,&quot;left&quot;:570,&quot;top&quot;:171,&quot;width&quot;:567}"/>
</p:tagLst>
</file>

<file path=ppt/tags/tag16.xml><?xml version="1.0" encoding="utf-8"?>
<p:tagLst xmlns:p="http://schemas.openxmlformats.org/presentationml/2006/main">
  <p:tag name="KSO_WM_DIAGRAM_VIRTUALLY_FRAME" val="{&quot;height&quot;:413.55,&quot;left&quot;:570,&quot;top&quot;:171,&quot;width&quot;:567}"/>
</p:tagLst>
</file>

<file path=ppt/tags/tag17.xml><?xml version="1.0" encoding="utf-8"?>
<p:tagLst xmlns:p="http://schemas.openxmlformats.org/presentationml/2006/main">
  <p:tag name="KSO_WM_DIAGRAM_VIRTUALLY_FRAME" val="{&quot;height&quot;:324.75,&quot;left&quot;:59.25,&quot;top&quot;:222.75,&quot;width&quot;:493.5}"/>
</p:tagLst>
</file>

<file path=ppt/tags/tag18.xml><?xml version="1.0" encoding="utf-8"?>
<p:tagLst xmlns:p="http://schemas.openxmlformats.org/presentationml/2006/main">
  <p:tag name="KSO_WM_DIAGRAM_VIRTUALLY_FRAME" val="{&quot;height&quot;:324.75,&quot;left&quot;:59.25,&quot;top&quot;:222.75,&quot;width&quot;:493.5}"/>
</p:tagLst>
</file>

<file path=ppt/tags/tag19.xml><?xml version="1.0" encoding="utf-8"?>
<p:tagLst xmlns:p="http://schemas.openxmlformats.org/presentationml/2006/main">
  <p:tag name="KSO_WM_DIAGRAM_VIRTUALLY_FRAME" val="{&quot;height&quot;:324.75,&quot;left&quot;:59.25,&quot;top&quot;:222.75,&quot;width&quot;:493.5}"/>
</p:tagLst>
</file>

<file path=ppt/tags/tag20.xml><?xml version="1.0" encoding="utf-8"?>
<p:tagLst xmlns:p="http://schemas.openxmlformats.org/presentationml/2006/main">
  <p:tag name="KSO_WM_DIAGRAM_VIRTUALLY_FRAME" val="{&quot;height&quot;:324.75,&quot;left&quot;:59.25,&quot;top&quot;:222.75,&quot;width&quot;:493.5}"/>
</p:tagLst>
</file>

<file path=ppt/tags/tag21.xml><?xml version="1.0" encoding="utf-8"?>
<p:tagLst xmlns:p="http://schemas.openxmlformats.org/presentationml/2006/main">
  <p:tag name="KSO_WM_DIAGRAM_VIRTUALLY_FRAME" val="{&quot;height&quot;:324.75,&quot;left&quot;:59.25,&quot;top&quot;:222.75,&quot;width&quot;:493.5}"/>
</p:tagLst>
</file>

<file path=ppt/tags/tag22.xml><?xml version="1.0" encoding="utf-8"?>
<p:tagLst xmlns:p="http://schemas.openxmlformats.org/presentationml/2006/main">
  <p:tag name="KSO_WM_DIAGRAM_VIRTUALLY_FRAME" val="{&quot;height&quot;:324.75,&quot;left&quot;:59.25,&quot;top&quot;:222.75,&quot;width&quot;:493.5}"/>
</p:tagLst>
</file>

<file path=ppt/tags/tag23.xml><?xml version="1.0" encoding="utf-8"?>
<p:tagLst xmlns:p="http://schemas.openxmlformats.org/presentationml/2006/main">
  <p:tag name="KSO_WM_DIAGRAM_VIRTUALLY_FRAME" val="{&quot;height&quot;:324.75,&quot;left&quot;:59.25,&quot;top&quot;:222.75,&quot;width&quot;:493.5}"/>
</p:tagLst>
</file>

<file path=ppt/tags/tag24.xml><?xml version="1.0" encoding="utf-8"?>
<p:tagLst xmlns:p="http://schemas.openxmlformats.org/presentationml/2006/main">
  <p:tag name="KSO_WM_DIAGRAM_VIRTUALLY_FRAME" val="{&quot;height&quot;:324.75,&quot;left&quot;:59.25,&quot;top&quot;:222.75,&quot;width&quot;:493.5}"/>
</p:tagLst>
</file>

<file path=ppt/tags/tag25.xml><?xml version="1.0" encoding="utf-8"?>
<p:tagLst xmlns:p="http://schemas.openxmlformats.org/presentationml/2006/main">
  <p:tag name="KSO_WM_DIAGRAM_VIRTUALLY_FRAME" val="{&quot;height&quot;:324.75,&quot;left&quot;:59.25,&quot;top&quot;:222.75,&quot;width&quot;:493.5}"/>
</p:tagLst>
</file>

<file path=ppt/tags/tag26.xml><?xml version="1.0" encoding="utf-8"?>
<p:tagLst xmlns:p="http://schemas.openxmlformats.org/presentationml/2006/main">
  <p:tag name="KSO_WM_DIAGRAM_VIRTUALLY_FRAME" val="{&quot;height&quot;:324.75,&quot;left&quot;:59.25,&quot;top&quot;:222.75,&quot;width&quot;:493.5}"/>
</p:tagLst>
</file>

<file path=ppt/tags/tag27.xml><?xml version="1.0" encoding="utf-8"?>
<p:tagLst xmlns:p="http://schemas.openxmlformats.org/presentationml/2006/main">
  <p:tag name="KSO_WM_DIAGRAM_VIRTUALLY_FRAME" val="{&quot;height&quot;:324.75,&quot;left&quot;:59.25,&quot;top&quot;:222.75,&quot;width&quot;:493.5}"/>
</p:tagLst>
</file>

<file path=ppt/tags/tag28.xml><?xml version="1.0" encoding="utf-8"?>
<p:tagLst xmlns:p="http://schemas.openxmlformats.org/presentationml/2006/main">
  <p:tag name="KSO_WM_DIAGRAM_VIRTUALLY_FRAME" val="{&quot;height&quot;:324.75,&quot;left&quot;:59.25,&quot;top&quot;:222.75,&quot;width&quot;:493.5}"/>
</p:tagLst>
</file>

<file path=ppt/tags/tag29.xml><?xml version="1.0" encoding="utf-8"?>
<p:tagLst xmlns:p="http://schemas.openxmlformats.org/presentationml/2006/main">
  <p:tag name="KSO_WM_DIAGRAM_VIRTUALLY_FRAME" val="{&quot;height&quot;:324.75,&quot;left&quot;:59.25,&quot;top&quot;:222.75,&quot;width&quot;:493.5}"/>
</p:tagLst>
</file>

<file path=ppt/tags/tag30.xml><?xml version="1.0" encoding="utf-8"?>
<p:tagLst xmlns:p="http://schemas.openxmlformats.org/presentationml/2006/main">
  <p:tag name="KSO_WM_DIAGRAM_VIRTUALLY_FRAME" val="{&quot;height&quot;:324.75,&quot;left&quot;:59.25,&quot;top&quot;:222.75,&quot;width&quot;:493.5}"/>
</p:tagLst>
</file>

<file path=ppt/tags/tag31.xml><?xml version="1.0" encoding="utf-8"?>
<p:tagLst xmlns:p="http://schemas.openxmlformats.org/presentationml/2006/main">
  <p:tag name="KSO_WM_DIAGRAM_VIRTUALLY_FRAME" val="{&quot;height&quot;:324.75,&quot;left&quot;:59.25,&quot;top&quot;:222.75,&quot;width&quot;:493.5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90500" dist="85194" dir="3806097">
              <a:srgbClr val="386486">
                <a:alpha val="15000"/>
              </a:srgbClr>
            </a:outerShdw>
          </a:effectLst>
        </a:effectStyle>
        <a:effectStyle>
          <a:effectLst>
            <a:outerShdw blurRad="171450" dist="72540" dir="4008085">
              <a:srgbClr val="386486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90500" dist="85194" dir="3806097">
              <a:srgbClr val="386486">
                <a:alpha val="15000"/>
              </a:srgbClr>
            </a:outerShdw>
          </a:effectLst>
        </a:effectStyle>
        <a:effectStyle>
          <a:effectLst>
            <a:outerShdw blurRad="171450" dist="72540" dir="4008085">
              <a:srgbClr val="386486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3806</Words>
  <Application>WPS 演示</Application>
  <PresentationFormat>Converted Presentation</PresentationFormat>
  <Paragraphs>557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SimSun</vt:lpstr>
      <vt:lpstr>Wingdings</vt:lpstr>
      <vt:lpstr>DengXian</vt:lpstr>
      <vt:lpstr>Microsoft YaHei</vt:lpstr>
      <vt:lpstr>STXinwei</vt:lpstr>
      <vt:lpstr>STKaiti</vt:lpstr>
      <vt:lpstr>STSong</vt:lpstr>
      <vt:lpstr>Arial Unicode MS</vt:lpstr>
      <vt:lpstr>Aptos</vt:lpstr>
      <vt:lpstr>Segoe UI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光语者——面向数字无障碍的桌面智能体</dc:title>
  <dc:creator>应光团队</dc:creator>
  <cp:lastModifiedBy>应光团队</cp:lastModifiedBy>
  <cp:revision>9</cp:revision>
  <dcterms:created xsi:type="dcterms:W3CDTF">2026-10-28T06:27:42Z</dcterms:created>
  <dcterms:modified xsi:type="dcterms:W3CDTF">2026-10-28T07:06:17Z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132CEBA473CC45E5B50B78035A8AC72B_12</vt:lpwstr>
  </property>
  <property fmtid="{D5CDD505-2E9C-101B-9397-08002B2CF9AE}" pid="3" name="KSOProductBuildVer">
    <vt:lpwstr>2052-12.1.0.28043</vt:lpwstr>
  </property>
</Properties>
</file>